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259" r:id="rId3"/>
    <p:sldId id="260" r:id="rId4"/>
    <p:sldId id="268" r:id="rId5"/>
    <p:sldId id="269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281" r:id="rId22"/>
    <p:sldId id="290" r:id="rId23"/>
    <p:sldId id="283" r:id="rId24"/>
    <p:sldId id="284" r:id="rId25"/>
    <p:sldId id="285" r:id="rId26"/>
    <p:sldId id="286" r:id="rId27"/>
    <p:sldId id="288" r:id="rId28"/>
    <p:sldId id="289" r:id="rId29"/>
    <p:sldId id="291" r:id="rId30"/>
    <p:sldId id="293" r:id="rId31"/>
    <p:sldId id="294" r:id="rId32"/>
    <p:sldId id="295" r:id="rId33"/>
    <p:sldId id="297" r:id="rId34"/>
    <p:sldId id="298" r:id="rId35"/>
    <p:sldId id="299" r:id="rId36"/>
    <p:sldId id="301" r:id="rId37"/>
    <p:sldId id="302" r:id="rId38"/>
    <p:sldId id="303" r:id="rId39"/>
    <p:sldId id="305" r:id="rId40"/>
  </p:sldIdLst>
  <p:sldSz cx="9144000" cy="6858000" type="screen4x3"/>
  <p:notesSz cx="7077075" cy="9080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60" d="100"/>
          <a:sy n="60" d="100"/>
        </p:scale>
        <p:origin x="-2982" y="-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f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f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24899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f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624899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67F14-5E00-4A21-A958-5E2C9D4B95A5}" type="slidenum">
              <a:rPr lang="af-ZA" smtClean="0"/>
              <a:pPr/>
              <a:t>‹#›</a:t>
            </a:fld>
            <a:endParaRPr lang="af-ZA"/>
          </a:p>
        </p:txBody>
      </p:sp>
    </p:spTree>
    <p:extLst>
      <p:ext uri="{BB962C8B-B14F-4D97-AF65-F5344CB8AC3E}">
        <p14:creationId xmlns:p14="http://schemas.microsoft.com/office/powerpoint/2010/main" val="1302052340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f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f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681038"/>
            <a:ext cx="4540250" cy="34051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f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313238"/>
            <a:ext cx="5661660" cy="4086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24899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624899"/>
            <a:ext cx="3066733" cy="4540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BA33C-3D48-4212-97C0-99CF887FFC36}" type="slidenum">
              <a:rPr lang="af-ZA" smtClean="0"/>
              <a:pPr/>
              <a:t>‹#›</a:t>
            </a:fld>
            <a:endParaRPr lang="af-ZA"/>
          </a:p>
        </p:txBody>
      </p:sp>
    </p:spTree>
    <p:extLst>
      <p:ext uri="{BB962C8B-B14F-4D97-AF65-F5344CB8AC3E}">
        <p14:creationId xmlns:p14="http://schemas.microsoft.com/office/powerpoint/2010/main" val="105519745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d-ID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af-Z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f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810C-6738-4DB7-B027-1A778E829859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D037-6F05-4712-81E4-A9345C113A0A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F66B-2439-4918-B979-953A55D375E9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ADB7-167B-472D-8BF1-F99A97F49FE0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F079-A2E1-4876-B970-788DBC36E001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B0AE-1DAD-4718-BA9B-EE4142952339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1ED33-BEDA-4E49-A410-590F21C5E07D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408C-A9CA-4F2A-9508-23A711D037E0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f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65F5-E08A-45F5-9667-59A7C06F718F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B2E0-70E0-47C6-AC43-5A9BE443BF51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411D-B668-4606-821C-EB5341BF0056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f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f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320BB-02C7-4DBE-854C-8BF0671A4F79}" type="datetime1">
              <a:rPr lang="en-US" smtClean="0"/>
              <a:pPr/>
              <a:t>13/05/2015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ADED9-C375-41AC-A94B-8E586DD7A2F7}" type="slidenum">
              <a:rPr lang="af-ZA" smtClean="0"/>
              <a:pPr/>
              <a:t>‹#›</a:t>
            </a:fld>
            <a:endParaRPr lang="af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9" name="Text Box 11"/>
          <p:cNvSpPr txBox="1">
            <a:spLocks noChangeArrowheads="1"/>
          </p:cNvSpPr>
          <p:nvPr/>
        </p:nvSpPr>
        <p:spPr bwMode="auto">
          <a:xfrm>
            <a:off x="428596" y="2928934"/>
            <a:ext cx="721523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id-ID" sz="5000" b="1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HR </a:t>
            </a:r>
          </a:p>
          <a:p>
            <a:r>
              <a:rPr lang="id-ID" sz="5000" b="1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Strategic Programs</a:t>
            </a:r>
            <a:endParaRPr lang="en-US" sz="5000" b="1" dirty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86070" name="Picture 22" descr="780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8466" y="0"/>
            <a:ext cx="2276476" cy="271462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</p:pic>
      <p:pic>
        <p:nvPicPr>
          <p:cNvPr id="386073" name="Picture 25" descr="780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4" y="0"/>
            <a:ext cx="2214546" cy="271462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>
          <a:xfrm>
            <a:off x="500034" y="5500702"/>
            <a:ext cx="8429684" cy="158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565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latin typeface="+mn-lt"/>
              </a:rPr>
              <a:t>Key Functions dalam Roadmap HR 2011 - 2015</a:t>
            </a:r>
            <a:endParaRPr lang="id-ID" sz="3000" b="1" dirty="0">
              <a:latin typeface="+mn-lt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428596" y="4929198"/>
            <a:ext cx="3571900" cy="1285884"/>
          </a:xfrm>
          <a:prstGeom prst="homePlate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1" name="TextBox 20"/>
          <p:cNvSpPr txBox="1"/>
          <p:nvPr/>
        </p:nvSpPr>
        <p:spPr>
          <a:xfrm>
            <a:off x="642910" y="5107086"/>
            <a:ext cx="178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 smtClean="0"/>
              <a:t>Training and Development</a:t>
            </a:r>
            <a:endParaRPr lang="af-ZA" sz="2200" b="1" dirty="0"/>
          </a:p>
        </p:txBody>
      </p:sp>
      <p:sp>
        <p:nvSpPr>
          <p:cNvPr id="24" name="Pentagon 23"/>
          <p:cNvSpPr/>
          <p:nvPr/>
        </p:nvSpPr>
        <p:spPr>
          <a:xfrm>
            <a:off x="428596" y="1285860"/>
            <a:ext cx="3571900" cy="1285884"/>
          </a:xfrm>
          <a:prstGeom prst="homePlate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6" name="TextBox 25"/>
          <p:cNvSpPr txBox="1"/>
          <p:nvPr/>
        </p:nvSpPr>
        <p:spPr>
          <a:xfrm>
            <a:off x="642910" y="1500174"/>
            <a:ext cx="2653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 smtClean="0"/>
              <a:t>Performance Management</a:t>
            </a:r>
            <a:endParaRPr lang="af-ZA" sz="2200" b="1" dirty="0"/>
          </a:p>
        </p:txBody>
      </p:sp>
      <p:sp>
        <p:nvSpPr>
          <p:cNvPr id="28" name="Pentagon 27"/>
          <p:cNvSpPr/>
          <p:nvPr/>
        </p:nvSpPr>
        <p:spPr>
          <a:xfrm>
            <a:off x="428596" y="3071810"/>
            <a:ext cx="3571900" cy="1285884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cxnSp>
        <p:nvCxnSpPr>
          <p:cNvPr id="31" name="Straight Connector 30"/>
          <p:cNvCxnSpPr/>
          <p:nvPr/>
        </p:nvCxnSpPr>
        <p:spPr>
          <a:xfrm>
            <a:off x="285720" y="2784470"/>
            <a:ext cx="8501122" cy="158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57158" y="4713296"/>
            <a:ext cx="8501122" cy="158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71934" y="4979599"/>
            <a:ext cx="435771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buFont typeface="Arial" pitchFamily="34" charset="0"/>
              <a:buChar char="•"/>
            </a:pPr>
            <a:r>
              <a:rPr lang="id-ID" sz="2000" dirty="0" smtClean="0"/>
              <a:t>Menjadikan training and development sebagai center </a:t>
            </a:r>
            <a:r>
              <a:rPr lang="id-ID" sz="2000" smtClean="0"/>
              <a:t>of excellence</a:t>
            </a:r>
            <a:endParaRPr lang="af-ZA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4143372" y="1214422"/>
            <a:ext cx="4357718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buFont typeface="Arial" pitchFamily="34" charset="0"/>
              <a:buChar char="•"/>
            </a:pPr>
            <a:r>
              <a:rPr lang="id-ID" sz="2000" dirty="0" smtClean="0"/>
              <a:t>Mengelola proses performance management sebagai effective tool untuk mereview serta men-develop kompetensi dan kinerja pegawai</a:t>
            </a:r>
            <a:endParaRPr lang="af-ZA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642910" y="3286124"/>
            <a:ext cx="2653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 smtClean="0"/>
              <a:t>Career and Talent Management</a:t>
            </a:r>
            <a:endParaRPr lang="af-ZA" sz="2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071934" y="3000372"/>
            <a:ext cx="4357718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buFont typeface="Arial" pitchFamily="34" charset="0"/>
              <a:buChar char="•"/>
            </a:pPr>
            <a:r>
              <a:rPr lang="id-ID" sz="2000" dirty="0" smtClean="0"/>
              <a:t>Mengelola dan mengembangkan top talents secara optimal; membangun competency-based career management system</a:t>
            </a:r>
            <a:endParaRPr lang="af-ZA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565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latin typeface="+mn-lt"/>
              </a:rPr>
              <a:t>Key Functions dalam Roadmap HR 2011 - 2015</a:t>
            </a:r>
            <a:endParaRPr lang="id-ID" sz="3000" b="1" dirty="0">
              <a:latin typeface="+mn-lt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428596" y="4929198"/>
            <a:ext cx="3571900" cy="1428760"/>
          </a:xfrm>
          <a:prstGeom prst="homePlate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1" name="TextBox 20"/>
          <p:cNvSpPr txBox="1"/>
          <p:nvPr/>
        </p:nvSpPr>
        <p:spPr>
          <a:xfrm>
            <a:off x="642910" y="5107086"/>
            <a:ext cx="26432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 smtClean="0"/>
              <a:t>Recruitment dan Manpower Planning</a:t>
            </a:r>
            <a:endParaRPr lang="af-ZA" sz="2200" b="1" dirty="0"/>
          </a:p>
        </p:txBody>
      </p:sp>
      <p:sp>
        <p:nvSpPr>
          <p:cNvPr id="24" name="Pentagon 23"/>
          <p:cNvSpPr/>
          <p:nvPr/>
        </p:nvSpPr>
        <p:spPr>
          <a:xfrm>
            <a:off x="428596" y="1285860"/>
            <a:ext cx="3571900" cy="1285884"/>
          </a:xfrm>
          <a:prstGeom prst="homePlate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6" name="TextBox 25"/>
          <p:cNvSpPr txBox="1"/>
          <p:nvPr/>
        </p:nvSpPr>
        <p:spPr>
          <a:xfrm>
            <a:off x="642910" y="1500174"/>
            <a:ext cx="2653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 smtClean="0"/>
              <a:t>HR Information System</a:t>
            </a:r>
            <a:endParaRPr lang="af-ZA" sz="2200" b="1" dirty="0"/>
          </a:p>
        </p:txBody>
      </p:sp>
      <p:sp>
        <p:nvSpPr>
          <p:cNvPr id="28" name="Pentagon 27"/>
          <p:cNvSpPr/>
          <p:nvPr/>
        </p:nvSpPr>
        <p:spPr>
          <a:xfrm>
            <a:off x="428596" y="3071810"/>
            <a:ext cx="3571900" cy="1285884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cxnSp>
        <p:nvCxnSpPr>
          <p:cNvPr id="31" name="Straight Connector 30"/>
          <p:cNvCxnSpPr/>
          <p:nvPr/>
        </p:nvCxnSpPr>
        <p:spPr>
          <a:xfrm>
            <a:off x="285720" y="2784470"/>
            <a:ext cx="8501122" cy="158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57158" y="4713296"/>
            <a:ext cx="8501122" cy="158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71934" y="4979599"/>
            <a:ext cx="4357718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buFont typeface="Arial" pitchFamily="34" charset="0"/>
              <a:buChar char="•"/>
            </a:pPr>
            <a:r>
              <a:rPr lang="id-ID" sz="2000" dirty="0" smtClean="0"/>
              <a:t>Menjadikan recruitment sebagai first gate untuk membangun top talents</a:t>
            </a:r>
            <a:endParaRPr lang="af-ZA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4143372" y="1214422"/>
            <a:ext cx="435771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buFont typeface="Arial" pitchFamily="34" charset="0"/>
              <a:buChar char="•"/>
            </a:pPr>
            <a:r>
              <a:rPr lang="id-ID" sz="2000" dirty="0" smtClean="0"/>
              <a:t>Mendayagunakan HRIS sebagai “one stop information service” bagi seluruh pegawai. </a:t>
            </a:r>
            <a:endParaRPr lang="af-ZA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642910" y="3286124"/>
            <a:ext cx="26530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 smtClean="0"/>
              <a:t>Industrial Relations</a:t>
            </a:r>
            <a:endParaRPr lang="af-ZA" sz="2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071934" y="3000372"/>
            <a:ext cx="4357718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600"/>
              </a:lnSpc>
              <a:buFont typeface="Arial" pitchFamily="34" charset="0"/>
              <a:buChar char="•"/>
            </a:pPr>
            <a:r>
              <a:rPr lang="id-ID" sz="2000" dirty="0" smtClean="0"/>
              <a:t>Membangun hubungan yang sinergis dan produktif antara pegawai dengan manajemen. </a:t>
            </a:r>
            <a:endParaRPr lang="af-ZA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4572032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1928802"/>
            <a:ext cx="842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latin typeface="+mn-lt"/>
              </a:rPr>
              <a:t>Roadmap HR 2011 – 2015 : </a:t>
            </a:r>
          </a:p>
          <a:p>
            <a:r>
              <a:rPr lang="id-ID" sz="4800" b="1" dirty="0" smtClean="0">
                <a:latin typeface="+mn-lt"/>
              </a:rPr>
              <a:t>Key Initiatives in </a:t>
            </a:r>
          </a:p>
          <a:p>
            <a:r>
              <a:rPr lang="id-ID" sz="4800" b="1" dirty="0" smtClean="0">
                <a:latin typeface="+mn-lt"/>
              </a:rPr>
              <a:t>Career and Talent Management</a:t>
            </a:r>
            <a:endParaRPr lang="id-ID" sz="48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3429024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Menyelesaikan penyusunan Kamus Kompetensi dan Kebutuhan Kompetensi Jabatan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947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Q3 – Q4</a:t>
            </a:r>
          </a:p>
          <a:p>
            <a:r>
              <a:rPr lang="id-ID" i="1" dirty="0" smtClean="0"/>
              <a:t>2011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428868"/>
            <a:ext cx="3000396" cy="3452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Kamus kompetensi untuk semua job family telah selesai disusun – baik untuk soft ataupun hard competencies.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KKJ telah selesai disusun untuk semua job family.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Kamus kompetensi dan KKJ dipublikasikan dalam bentuk buku.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Penyusunan Instrumen untuk Analisa Level Kompetensi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947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Q1 – Q2</a:t>
            </a:r>
          </a:p>
          <a:p>
            <a:r>
              <a:rPr lang="id-ID" i="1" dirty="0" smtClean="0"/>
              <a:t>2012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428868"/>
            <a:ext cx="3000396" cy="295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Instrumen asesmen kompetensi yang praktikal, easy to use, namun tetap solid.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Panduan penggunaan instrumen, termasuk sosialisasinya kepada line manager tentang cara aplikasinya.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7" name="TextBox 16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Penerapan dan uji instrumen asesmen kompetensi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838619" y="2428868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Q3 2012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7818" y="2383924"/>
            <a:ext cx="3357586" cy="206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Asesmen kompetensi telah dilakukan untuk semua pegawai level manajer ke atas.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Hasil dan feedback pengembangan kompetensi diberikan kepada pegawai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86182" y="468839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Q2 2013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5380" y="4643446"/>
            <a:ext cx="3624337" cy="1772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Asesmen kompetensi telah dilakukan untuk semua pegawai level manajer ke bawah.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Hasil dan feedback pengembangan kompetensi.</a:t>
            </a:r>
            <a:endParaRPr lang="af-ZA" dirty="0"/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Penyusunan Talent Management System and Tools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838619" y="24288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Q4 2012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7818" y="2383924"/>
            <a:ext cx="3357586" cy="352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Guidelines tentang Sistem Talent Management, mendeskripsikan kebijakan, serta proses identifikasi top talents dan rute pengembangannya.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Tools untuk mengidentifikasi top talents tersusun. Template dan supporting tools untuk pengembangan talents telah siap.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Identifikasi Top Talents dan Program Pengembangannya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857620" y="2428868"/>
            <a:ext cx="1008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Q1  - Q2 </a:t>
            </a:r>
          </a:p>
          <a:p>
            <a:r>
              <a:rPr lang="id-ID" i="1" dirty="0" smtClean="0"/>
              <a:t>2013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7818" y="2383924"/>
            <a:ext cx="3357586" cy="354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Dengan menggunakan tools yang telah disiapkan (termasuk hasil asesmen kompetensi), maka teridentifikasi top talents di seluruh core positions.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Skema dan program pengembangan untuk setiap top talents telah disusun, dan dikomunikasikan kepada ybs dan atasannya.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64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Implementasi Program Development Plan – Top Talents</a:t>
            </a:r>
            <a:endParaRPr lang="af-ZA" dirty="0"/>
          </a:p>
        </p:txBody>
      </p:sp>
      <p:sp>
        <p:nvSpPr>
          <p:cNvPr id="43" name="TextBox 42"/>
          <p:cNvSpPr txBox="1"/>
          <p:nvPr/>
        </p:nvSpPr>
        <p:spPr>
          <a:xfrm>
            <a:off x="5429256" y="2428868"/>
            <a:ext cx="3357586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Sesi-sesi pengembangan untuk para top talents (sesuai development plan).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Secara reguler dilakukan review dan monitoring untuk mengukur efektivitas penerapan development plan.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79642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3306" y="2428868"/>
            <a:ext cx="137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Q3 2013  - Q4 2015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Penyusunan Kebijakan Competency based Career Management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695743" y="2428868"/>
            <a:ext cx="1376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 - 2012 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79642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29256" y="2357430"/>
            <a:ext cx="3357586" cy="3452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Panduan kebijakan pola karir pegawai dengan mengacu pada KKJ.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Pola karir mendeskripsikan kebijakan dan kriteria rotasi, promosi, dan demosi.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Kebijakan pola karir dikaitkan dengan hasil PA dan hasil evaluasi dalam Mandatory Training Plan.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Penyusunan  Panduan Employee Development Plan – Kompetensi Generik dan Kompetensi Teknis.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5743" y="2428868"/>
            <a:ext cx="137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2013</a:t>
            </a:r>
          </a:p>
          <a:p>
            <a:r>
              <a:rPr lang="id-ID" i="1" dirty="0" smtClean="0"/>
              <a:t>Q3 2013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79642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29256" y="2357430"/>
            <a:ext cx="3357586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Panduan dalam mengisi Employee Development Plan. Dikaitkan dengan hasil Asesmen Kompetensi.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Panduan mencakup pula monitoring tool and template untuk memantau progres pelaksanaan EDP.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285720" y="2357430"/>
            <a:ext cx="307183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Monitoring Penerapan Employee Development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5743" y="2428868"/>
            <a:ext cx="137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Q4 2013 – Q4 2015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79642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357158" y="-24"/>
            <a:ext cx="5208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Career and Talent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29256" y="2357430"/>
            <a:ext cx="3357586" cy="3157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Terlaksananya EDP yang telah disusun oleh pegawai.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Secara reguler dilakukan review dan monitoring untuk mengukur efektivitas penerapan employee development plan.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Dokumentasi pelaksanaan EDP untuk setiap pegawai.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4572032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1928802"/>
            <a:ext cx="80724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smtClean="0">
                <a:latin typeface="+mn-lt"/>
              </a:rPr>
              <a:t>Key </a:t>
            </a:r>
            <a:r>
              <a:rPr lang="id-ID" sz="4800" b="1" dirty="0" smtClean="0">
                <a:latin typeface="+mn-lt"/>
              </a:rPr>
              <a:t>Initiatives in </a:t>
            </a:r>
          </a:p>
          <a:p>
            <a:r>
              <a:rPr lang="id-ID" sz="4800" b="1" dirty="0" smtClean="0">
                <a:latin typeface="+mn-lt"/>
              </a:rPr>
              <a:t>Performance Management</a:t>
            </a:r>
            <a:endParaRPr lang="id-ID" sz="4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8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784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Performance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357430"/>
            <a:ext cx="3429024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Merumuskan format baku penilaian kinerja yang mensinergikan dua elemen pokok : kompetensi dan KPI. 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947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Q3 – Q4</a:t>
            </a:r>
          </a:p>
          <a:p>
            <a:r>
              <a:rPr lang="id-ID" i="1" dirty="0" smtClean="0"/>
              <a:t>2011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000396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Format standar penilaian kinerja yang “handy” : berisikan elemen kompetensi dan KPI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Jenis kompetensi untuk setiap level pegawai telah ditentukan dalam format penilaian kinerja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  <p:extLst>
      <p:ext uri="{BB962C8B-B14F-4D97-AF65-F5344CB8AC3E}">
        <p14:creationId xmlns:p14="http://schemas.microsoft.com/office/powerpoint/2010/main" val="35498989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784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Performance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285992"/>
            <a:ext cx="3143272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Melakukan full </a:t>
            </a:r>
            <a:r>
              <a:rPr lang="id-ID" smtClean="0"/>
              <a:t>implementation </a:t>
            </a:r>
            <a:r>
              <a:rPr lang="id-ID" smtClean="0"/>
              <a:t>Performance Management </a:t>
            </a:r>
            <a:r>
              <a:rPr lang="id-ID" smtClean="0"/>
              <a:t>Software </a:t>
            </a:r>
            <a:r>
              <a:rPr lang="id-ID" smtClean="0"/>
              <a:t>ke </a:t>
            </a:r>
            <a:r>
              <a:rPr lang="id-ID" dirty="0" smtClean="0"/>
              <a:t>semua pegawai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608204" y="2285992"/>
            <a:ext cx="1463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Q3 – 2011 sd.</a:t>
            </a:r>
          </a:p>
          <a:p>
            <a:r>
              <a:rPr lang="id-ID" i="1" dirty="0" smtClean="0"/>
              <a:t>Q2 – 2012</a:t>
            </a:r>
          </a:p>
          <a:p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429256" y="2285992"/>
            <a:ext cx="3500462" cy="3452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Proses penilaian kinerja oleh semua pegawai telah dilakukan </a:t>
            </a:r>
            <a:r>
              <a:rPr lang="id-ID" smtClean="0"/>
              <a:t>melalui </a:t>
            </a:r>
            <a:r>
              <a:rPr lang="id-ID" smtClean="0"/>
              <a:t>software Performance Management.</a:t>
            </a: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Mencakup baik aspek results (KPI) dan aspek kompetensi.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Semua pegawai telah mampu memanfaatkan fitur-fitur yang disediakan </a:t>
            </a:r>
            <a:r>
              <a:rPr lang="id-ID" smtClean="0"/>
              <a:t>oleh </a:t>
            </a:r>
            <a:r>
              <a:rPr lang="id-ID" smtClean="0"/>
              <a:t>software performance management.</a:t>
            </a:r>
            <a:r>
              <a:rPr lang="id-ID" smtClean="0"/>
              <a:t> </a:t>
            </a:r>
            <a:endParaRPr lang="af-ZA" dirty="0"/>
          </a:p>
        </p:txBody>
      </p:sp>
    </p:spTree>
    <p:extLst>
      <p:ext uri="{BB962C8B-B14F-4D97-AF65-F5344CB8AC3E}">
        <p14:creationId xmlns:p14="http://schemas.microsoft.com/office/powerpoint/2010/main" val="15026023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784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Performance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285992"/>
            <a:ext cx="3143272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Mengintegrasikan </a:t>
            </a:r>
            <a:r>
              <a:rPr lang="en-US" dirty="0" smtClean="0"/>
              <a:t>Performance Management system </a:t>
            </a:r>
            <a:r>
              <a:rPr lang="id-ID" dirty="0" smtClean="0"/>
              <a:t>dengan Modul-modul  HR Oracle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608204" y="2285992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Q1 2013 sd</a:t>
            </a:r>
          </a:p>
          <a:p>
            <a:r>
              <a:rPr lang="id-ID" i="1" dirty="0" smtClean="0"/>
              <a:t>Q2 2013</a:t>
            </a:r>
          </a:p>
          <a:p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429256" y="2285992"/>
            <a:ext cx="3500462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smtClean="0"/>
              <a:t>Integrasi </a:t>
            </a:r>
            <a:r>
              <a:rPr lang="en-US" smtClean="0"/>
              <a:t>PMS</a:t>
            </a:r>
            <a:r>
              <a:rPr lang="id-ID" smtClean="0"/>
              <a:t> </a:t>
            </a:r>
            <a:r>
              <a:rPr lang="id-ID" dirty="0" smtClean="0"/>
              <a:t>dengan Modul HR Oracle.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Integrasi hasil PA dengan fungsi lain : talent, career dan training plan; semuanya dalam satu platform software yang integrated. </a:t>
            </a:r>
            <a:endParaRPr lang="af-ZA" dirty="0"/>
          </a:p>
        </p:txBody>
      </p:sp>
    </p:spTree>
    <p:extLst>
      <p:ext uri="{BB962C8B-B14F-4D97-AF65-F5344CB8AC3E}">
        <p14:creationId xmlns:p14="http://schemas.microsoft.com/office/powerpoint/2010/main" val="35313936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784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Performance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285992"/>
            <a:ext cx="3143272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Full Implementation – Employee Dashboard Management. Semua proses </a:t>
            </a:r>
            <a:r>
              <a:rPr lang="id-ID" smtClean="0"/>
              <a:t>– </a:t>
            </a:r>
            <a:r>
              <a:rPr lang="id-ID" smtClean="0"/>
              <a:t>Performance Management, </a:t>
            </a:r>
            <a:r>
              <a:rPr lang="id-ID" dirty="0" smtClean="0"/>
              <a:t>training, dan career map – dijalankan dalam satu aplikasi software yang terpadu. 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608204" y="2285992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Q3 2012 sd</a:t>
            </a:r>
          </a:p>
          <a:p>
            <a:r>
              <a:rPr lang="id-ID" i="1" dirty="0" smtClean="0"/>
              <a:t>Q1 2013</a:t>
            </a:r>
          </a:p>
          <a:p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429256" y="2285992"/>
            <a:ext cx="3500462" cy="354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Implementasi performance management software yang terpadu dengan aplikasi lain : dalam bidang training, talent management dan career map.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Seluruh karyawan dapat mengakses dan menerapkan One Stop Information Services : semua aplikasi terangkum dalam satu platform yang terintegrasi. </a:t>
            </a:r>
            <a:endParaRPr lang="af-ZA" dirty="0"/>
          </a:p>
        </p:txBody>
      </p:sp>
    </p:spTree>
    <p:extLst>
      <p:ext uri="{BB962C8B-B14F-4D97-AF65-F5344CB8AC3E}">
        <p14:creationId xmlns:p14="http://schemas.microsoft.com/office/powerpoint/2010/main" val="41192391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784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Performance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14744" y="2331547"/>
            <a:ext cx="1205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Q4  - 2012 </a:t>
            </a:r>
          </a:p>
          <a:p>
            <a:r>
              <a:rPr lang="id-ID" i="1" dirty="0" smtClean="0"/>
              <a:t>Q1 - 2013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282" y="2285992"/>
            <a:ext cx="3214710" cy="977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smtClean="0"/>
              <a:t>Multimedia </a:t>
            </a:r>
            <a:r>
              <a:rPr lang="id-ID" smtClean="0"/>
              <a:t>PM (performance management) </a:t>
            </a:r>
            <a:r>
              <a:rPr lang="id-ID" dirty="0" smtClean="0"/>
              <a:t>Guidelines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2066" y="2294156"/>
            <a:ext cx="3786214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Guidelines book yang dilengkapi dengan interesting images/visual dan Live CD untuk memudahkan pemahaman.</a:t>
            </a:r>
            <a:endParaRPr lang="af-ZA" dirty="0"/>
          </a:p>
        </p:txBody>
      </p:sp>
      <p:sp>
        <p:nvSpPr>
          <p:cNvPr id="16" name="TextBox 15"/>
          <p:cNvSpPr txBox="1"/>
          <p:nvPr/>
        </p:nvSpPr>
        <p:spPr>
          <a:xfrm>
            <a:off x="3643306" y="4318987"/>
            <a:ext cx="1152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Q4  - 2012</a:t>
            </a:r>
          </a:p>
          <a:p>
            <a:r>
              <a:rPr lang="id-ID" i="1" dirty="0" smtClean="0"/>
              <a:t>Q1 - 2013</a:t>
            </a:r>
          </a:p>
          <a:p>
            <a:r>
              <a:rPr lang="id-ID" i="1" dirty="0" smtClean="0"/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282" y="4299997"/>
            <a:ext cx="3071834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en-US" dirty="0" smtClean="0"/>
              <a:t>Campaign - Making World Class Performance Management </a:t>
            </a:r>
            <a:endParaRPr lang="id-ID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5072066" y="4286256"/>
            <a:ext cx="3786214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Sesi workshop untuk mengkampanyekan Good Performance Management Practices Campaign.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Memastikan bahwa seluruh pegawai memahami siklus PM dengan benar.</a:t>
            </a:r>
            <a:endParaRPr lang="af-ZA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85720" y="4071942"/>
            <a:ext cx="8572560" cy="1588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6" name="TextBox 2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  <p:extLst>
      <p:ext uri="{BB962C8B-B14F-4D97-AF65-F5344CB8AC3E}">
        <p14:creationId xmlns:p14="http://schemas.microsoft.com/office/powerpoint/2010/main" val="26629052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7841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Performance Management</a:t>
            </a:r>
            <a:endParaRPr lang="id-ID" sz="3000" b="1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14744" y="2331547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Q1  2013 – </a:t>
            </a:r>
          </a:p>
          <a:p>
            <a:r>
              <a:rPr lang="id-ID" i="1" dirty="0" smtClean="0"/>
              <a:t>Q4 2015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282" y="2285992"/>
            <a:ext cx="3214710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Melakukan regular review and monitoring dalam penerapan full cycles of PM process.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3504" y="2294156"/>
            <a:ext cx="3786214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Regular review and monitoring ke seluruh bidang/division untuk memastikan seluruh siklus PM berjalan secara konsisten : mulai dari fase penetapan target, regular review and feedback, hingga fase performance coaching </a:t>
            </a:r>
            <a:endParaRPr lang="af-ZA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85720" y="4857760"/>
            <a:ext cx="8572560" cy="1588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6" name="TextBox 2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  <p:extLst>
      <p:ext uri="{BB962C8B-B14F-4D97-AF65-F5344CB8AC3E}">
        <p14:creationId xmlns:p14="http://schemas.microsoft.com/office/powerpoint/2010/main" val="3227718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4572032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1928802"/>
            <a:ext cx="842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schemeClr val="bg1"/>
                </a:solidFill>
                <a:latin typeface="+mn-lt"/>
              </a:rPr>
              <a:t>Roadmap HR 2011 – 2015 : </a:t>
            </a:r>
          </a:p>
          <a:p>
            <a:r>
              <a:rPr lang="id-ID" sz="4800" b="1" dirty="0" smtClean="0">
                <a:solidFill>
                  <a:schemeClr val="bg1"/>
                </a:solidFill>
                <a:latin typeface="+mn-lt"/>
              </a:rPr>
              <a:t>Key Initiatives in </a:t>
            </a:r>
          </a:p>
          <a:p>
            <a:r>
              <a:rPr lang="id-ID" sz="4800" b="1" dirty="0" smtClean="0">
                <a:solidFill>
                  <a:schemeClr val="bg1"/>
                </a:solidFill>
                <a:latin typeface="+mn-lt"/>
              </a:rPr>
              <a:t>Training and Development</a:t>
            </a:r>
            <a:endParaRPr lang="id-ID" sz="48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342902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Mendesain dan menyelesaikan rancangan kurikulum </a:t>
            </a:r>
            <a:r>
              <a:rPr lang="id-ID" smtClean="0"/>
              <a:t>terpadu Learning </a:t>
            </a:r>
            <a:r>
              <a:rPr lang="en-US" dirty="0" smtClean="0"/>
              <a:t>Center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Q3  2011 </a:t>
            </a:r>
          </a:p>
          <a:p>
            <a:r>
              <a:rPr lang="id-ID" i="1" dirty="0" smtClean="0"/>
              <a:t>– Q1 2012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428868"/>
            <a:ext cx="3214710" cy="4042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Tersusunnya kurikulum terpadu dan pola pendidikan </a:t>
            </a:r>
            <a:r>
              <a:rPr lang="id-ID" smtClean="0"/>
              <a:t>untuk  LC (Learning Center).</a:t>
            </a: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Termasuk didalamnya tersusun sistem pelatihan/pendidikan berjenjang dan bersifat integratif. 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Kurikulum pendidikan mengacu baik pada pelatihan teknis ataupun manajerial.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928958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Mendesain silabus dan modul-modul Pelatihan yang telah dirancang dalam </a:t>
            </a:r>
            <a:r>
              <a:rPr lang="id-ID" smtClean="0"/>
              <a:t>Kurikulum LC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 2012 </a:t>
            </a:r>
          </a:p>
          <a:p>
            <a:r>
              <a:rPr lang="id-ID" i="1" dirty="0" smtClean="0"/>
              <a:t>– Q4 2012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214710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Silabus dan materi untuk semua modul yang telah ditetapkan dalam </a:t>
            </a:r>
            <a:r>
              <a:rPr lang="id-ID" smtClean="0"/>
              <a:t>kurikulum LC</a:t>
            </a: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Setiap modul dilengkapi dengan instructor manual dan alat tes untuk menguji kelulusan peserta.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928958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Merumuskan kebijakan </a:t>
            </a:r>
            <a:r>
              <a:rPr lang="id-ID" smtClean="0"/>
              <a:t>pengelolaan L</a:t>
            </a:r>
            <a:r>
              <a:rPr lang="en-US" smtClean="0"/>
              <a:t>C</a:t>
            </a:r>
            <a:r>
              <a:rPr lang="id-ID" smtClean="0"/>
              <a:t> </a:t>
            </a:r>
            <a:r>
              <a:rPr lang="id-ID" dirty="0" smtClean="0"/>
              <a:t>dan kaitannya dengan fungsi SDM lainnya.  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 2013 </a:t>
            </a:r>
          </a:p>
          <a:p>
            <a:r>
              <a:rPr lang="id-ID" i="1" dirty="0" smtClean="0"/>
              <a:t>– Q2 2013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214710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Kebijakan dan prosedur </a:t>
            </a:r>
            <a:r>
              <a:rPr lang="id-ID" smtClean="0"/>
              <a:t>pengelolaan L</a:t>
            </a:r>
            <a:r>
              <a:rPr lang="en-US" smtClean="0"/>
              <a:t>C</a:t>
            </a:r>
            <a:r>
              <a:rPr lang="id-ID" smtClean="0"/>
              <a:t> </a:t>
            </a:r>
            <a:r>
              <a:rPr lang="id-ID" dirty="0" smtClean="0"/>
              <a:t>(pemilihan peserta, pelaksanaan, dan evaluasi).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Kebijakan penggunaan hasil pendidikan </a:t>
            </a:r>
            <a:r>
              <a:rPr lang="id-ID" smtClean="0"/>
              <a:t>di PL</a:t>
            </a:r>
            <a:r>
              <a:rPr lang="en-US" smtClean="0"/>
              <a:t>C</a:t>
            </a:r>
            <a:r>
              <a:rPr lang="id-ID" smtClean="0"/>
              <a:t> </a:t>
            </a:r>
            <a:r>
              <a:rPr lang="id-ID" dirty="0" smtClean="0"/>
              <a:t>dengan pola karir pegawai.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928958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Menyiapkan sarana/prasarana dan dukungan SDM untuk </a:t>
            </a:r>
            <a:r>
              <a:rPr lang="id-ID" smtClean="0"/>
              <a:t>pengelolaan L</a:t>
            </a:r>
            <a:r>
              <a:rPr lang="en-US" smtClean="0"/>
              <a:t>C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Q3  2013 </a:t>
            </a:r>
          </a:p>
          <a:p>
            <a:r>
              <a:rPr lang="id-ID" i="1" dirty="0" smtClean="0"/>
              <a:t>– Q2 2015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214710" cy="395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Siap sarana fisik dan semua alat pendukung pendidikan (lab, simulation tools, workshop) </a:t>
            </a:r>
            <a:r>
              <a:rPr lang="id-ID" smtClean="0"/>
              <a:t>dalam  Learning </a:t>
            </a:r>
            <a:r>
              <a:rPr lang="en-US" smtClean="0"/>
              <a:t>Center</a:t>
            </a: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Terlaksananya rekrutmen instruktur tetap dan non reguler untuk menjadi staf </a:t>
            </a:r>
            <a:r>
              <a:rPr lang="id-ID" smtClean="0"/>
              <a:t>akademik L</a:t>
            </a:r>
            <a:r>
              <a:rPr lang="en-US" smtClean="0"/>
              <a:t>C</a:t>
            </a:r>
            <a:r>
              <a:rPr lang="id-ID" smtClean="0"/>
              <a:t>. </a:t>
            </a: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928958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Grand </a:t>
            </a:r>
            <a:r>
              <a:rPr lang="id-ID" smtClean="0"/>
              <a:t>Launch Learning </a:t>
            </a:r>
            <a:r>
              <a:rPr lang="en-US" smtClean="0"/>
              <a:t> Center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Q3  – Q4 2015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214710" cy="365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Launching PGN Learning </a:t>
            </a:r>
            <a:r>
              <a:rPr lang="en-US" dirty="0" smtClean="0"/>
              <a:t>Center</a:t>
            </a:r>
            <a:r>
              <a:rPr lang="id-ID" dirty="0" smtClean="0"/>
              <a:t>, untuk dijadikan center of excellence pengembangan </a:t>
            </a:r>
            <a:r>
              <a:rPr lang="id-ID" smtClean="0"/>
              <a:t>SDM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smtClean="0"/>
              <a:t>Continual </a:t>
            </a:r>
            <a:r>
              <a:rPr lang="id-ID" dirty="0" smtClean="0"/>
              <a:t>improvement untuk </a:t>
            </a:r>
            <a:r>
              <a:rPr lang="id-ID" smtClean="0"/>
              <a:t>menjadikan L</a:t>
            </a:r>
            <a:r>
              <a:rPr lang="en-US" smtClean="0"/>
              <a:t>C </a:t>
            </a:r>
            <a:r>
              <a:rPr lang="id-ID" dirty="0" smtClean="0"/>
              <a:t>menjadi kian efektif kegiatannya.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endParaRPr lang="id-ID" dirty="0" smtClean="0"/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428892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Panduan dan Implementasi ROI of Training Initiatives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500430" y="2428868"/>
            <a:ext cx="19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 2012 </a:t>
            </a:r>
          </a:p>
          <a:p>
            <a:r>
              <a:rPr lang="id-ID" i="1" dirty="0" smtClean="0"/>
              <a:t>– Q4 2012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3575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Menyusun panduan dan implementasi - mengukur ROI of Training for selected training programs.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Siap instrumen pengukuran ROI dan rencana pengukuran for selected training programs.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Implementasi proses pengukuran ROI.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Laporan ROI of Training Programs. 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7186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43921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</a:t>
            </a:r>
          </a:p>
          <a:p>
            <a:r>
              <a:rPr lang="id-ID" sz="3000" b="1" dirty="0" smtClean="0">
                <a:solidFill>
                  <a:schemeClr val="bg1"/>
                </a:solidFill>
              </a:rPr>
              <a:t>Training and Development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7186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85720" y="2357430"/>
            <a:ext cx="3071834" cy="1567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Monitoring Penerapan Employee Development Plan (bekerja sama dengan bidang Career/Talent Management)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43" y="2428868"/>
            <a:ext cx="137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2013 – Q4 2015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6" y="2357430"/>
            <a:ext cx="3357586" cy="3157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Terlaksananya EDP yang telah disusun oleh pegawai.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Secara reguler dilakukan review dan monitoring untuk mengukur efektivitas penerapan employee development plan.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Dokumentasi pelaksanaan EDP untuk setiap pegawai.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45720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1928802"/>
            <a:ext cx="842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schemeClr val="bg1"/>
                </a:solidFill>
                <a:latin typeface="+mn-lt"/>
              </a:rPr>
              <a:t>Roadmap HR 2011 – 2015 : </a:t>
            </a:r>
          </a:p>
          <a:p>
            <a:r>
              <a:rPr lang="id-ID" sz="4800" b="1" dirty="0" smtClean="0">
                <a:solidFill>
                  <a:schemeClr val="bg1"/>
                </a:solidFill>
                <a:latin typeface="+mn-lt"/>
              </a:rPr>
              <a:t>Key Initiatives in </a:t>
            </a:r>
          </a:p>
          <a:p>
            <a:r>
              <a:rPr lang="id-ID" sz="4800" b="1" dirty="0" smtClean="0">
                <a:solidFill>
                  <a:schemeClr val="bg1"/>
                </a:solidFill>
                <a:latin typeface="+mn-lt"/>
              </a:rPr>
              <a:t>HR Information System</a:t>
            </a:r>
            <a:endParaRPr lang="id-ID" sz="48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1872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 HR Information System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285992"/>
            <a:ext cx="3143272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smtClean="0"/>
              <a:t>Mengintegrasikan Performance Software  </a:t>
            </a:r>
            <a:r>
              <a:rPr lang="id-ID" dirty="0" smtClean="0"/>
              <a:t>dengan Modul-modul  </a:t>
            </a:r>
            <a:r>
              <a:rPr lang="id-ID" smtClean="0"/>
              <a:t>HR SAP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608204" y="2285992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Q1 2012 sd</a:t>
            </a:r>
          </a:p>
          <a:p>
            <a:r>
              <a:rPr lang="id-ID" i="1" dirty="0" smtClean="0"/>
              <a:t>Q4 2013</a:t>
            </a:r>
          </a:p>
          <a:p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429256" y="2285992"/>
            <a:ext cx="350046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smtClean="0"/>
              <a:t>Integrasi </a:t>
            </a:r>
            <a:r>
              <a:rPr lang="id-ID" dirty="0" smtClean="0"/>
              <a:t>hasil PA dengan fungsi lain : talent, career dan training plan; semuanya dalam satu platform software yang integrated.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1872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>
                <a:solidFill>
                  <a:schemeClr val="bg1"/>
                </a:solidFill>
              </a:rPr>
              <a:t>Strategic</a:t>
            </a:r>
            <a:r>
              <a:rPr lang="id-ID" sz="3000" b="1" dirty="0" smtClean="0">
                <a:solidFill>
                  <a:schemeClr val="bg1"/>
                </a:solidFill>
                <a:latin typeface="+mn-lt"/>
              </a:rPr>
              <a:t> Initiatives : HR Information System</a:t>
            </a:r>
            <a:endParaRPr lang="id-ID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285992"/>
            <a:ext cx="3143272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Mendesain dan Implementasi One Stop HR Information Services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608204" y="2285992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Q1 2012 sd</a:t>
            </a:r>
          </a:p>
          <a:p>
            <a:r>
              <a:rPr lang="id-ID" i="1" dirty="0" smtClean="0"/>
              <a:t>Q4 2015</a:t>
            </a:r>
          </a:p>
          <a:p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429256" y="2285992"/>
            <a:ext cx="350046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Terimplementasikannya satu platform HR system yang terpadu untuk pegawai.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Pegawai bisa mengakses semua data dirinya didalam platform itu : mulai dari data cuti, data training, data PA, data absensi, dll.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Pegawai melakukan request personalia, secara online full (help desk platform).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4572032"/>
          </a:xfrm>
          <a:prstGeom prst="rect">
            <a:avLst/>
          </a:prstGeom>
          <a:solidFill>
            <a:srgbClr val="92D05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1928802"/>
            <a:ext cx="842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latin typeface="+mn-lt"/>
              </a:rPr>
              <a:t>Roadmap HR 2011 – 2015 : </a:t>
            </a:r>
          </a:p>
          <a:p>
            <a:r>
              <a:rPr lang="id-ID" sz="4800" b="1" dirty="0" smtClean="0">
                <a:latin typeface="+mn-lt"/>
              </a:rPr>
              <a:t>Key Initiatives in </a:t>
            </a:r>
          </a:p>
          <a:p>
            <a:r>
              <a:rPr lang="id-ID" sz="4800" b="1" dirty="0" smtClean="0">
                <a:latin typeface="+mn-lt"/>
              </a:rPr>
              <a:t>Industrial Relations</a:t>
            </a:r>
            <a:endParaRPr lang="id-ID" sz="48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34228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Industrial Relation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857520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Mengembangkan sinergi yang produkfif dengan SPSI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714744" y="2428868"/>
            <a:ext cx="135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Q3 2011 – Q4 2015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428868"/>
            <a:ext cx="32147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Secara reguler melakukan dialog dengan para pengurus SPSI.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Menjembatani aspirasi SPSI dengan pihak manajemen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Melakukan coffee morning setiap 6 bulan, antara top manajemen dengan SPSI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14744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-24"/>
            <a:ext cx="34228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</a:t>
            </a:r>
          </a:p>
          <a:p>
            <a:r>
              <a:rPr lang="id-ID" sz="3000" b="1" dirty="0" smtClean="0"/>
              <a:t>Industrial Relation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720" y="2357430"/>
            <a:ext cx="2857520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Menumbuhkan PGN Pride and Togetherness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500430" y="2428868"/>
            <a:ext cx="135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Q1 2012 – Q4 2015</a:t>
            </a:r>
            <a:endParaRPr lang="af-ZA" i="1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Key Initiatives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14744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Timeline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</a:rPr>
              <a:t>Expected Outcomes</a:t>
            </a:r>
            <a:endParaRPr lang="af-ZA" b="1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14876" y="2253517"/>
            <a:ext cx="4429124" cy="4375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af-ZA" dirty="0" smtClean="0"/>
              <a:t>Terselenggaranya kegiatan untuk membangun kebanggan sebagai Satu </a:t>
            </a:r>
            <a:r>
              <a:rPr lang="af-ZA" smtClean="0"/>
              <a:t>Keluarga P</a:t>
            </a:r>
            <a:r>
              <a:rPr lang="id-ID" smtClean="0"/>
              <a:t>erusahaan </a:t>
            </a:r>
            <a:r>
              <a:rPr lang="af-ZA" smtClean="0"/>
              <a:t>bekerjasama </a:t>
            </a:r>
            <a:r>
              <a:rPr lang="af-ZA" dirty="0" smtClean="0"/>
              <a:t>dengan satuan kerja lain, antara lain berupa kegiatan : </a:t>
            </a:r>
          </a:p>
          <a:p>
            <a:pPr marL="800100" lvl="1" indent="-3429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af-ZA" dirty="0" smtClean="0"/>
              <a:t>Membangun komunitas-komunitas hobi dan olahraga</a:t>
            </a:r>
          </a:p>
          <a:p>
            <a:pPr marL="800100" lvl="1" indent="-3429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af-ZA" dirty="0" smtClean="0"/>
              <a:t>Employee gathering secara kreatif secara periodik </a:t>
            </a:r>
          </a:p>
          <a:p>
            <a:pPr marL="800100" lvl="1" indent="-3429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af-ZA" dirty="0" smtClean="0"/>
              <a:t>Sosialisasi dan edukasi mengenai regulasi/peraturan kepegawaian</a:t>
            </a:r>
          </a:p>
          <a:p>
            <a:pPr marL="800100" lvl="1" indent="-3429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af-ZA" dirty="0" smtClean="0"/>
              <a:t>Mengoptimalkan layanan informasi kepegawaian melalui </a:t>
            </a:r>
            <a:r>
              <a:rPr lang="af-ZA" smtClean="0"/>
              <a:t>Portal </a:t>
            </a:r>
            <a:endParaRPr lang="af-ZA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928718"/>
            <a:ext cx="9144000" cy="5357850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1071546"/>
            <a:ext cx="80724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latin typeface="+mn-lt"/>
              </a:rPr>
              <a:t>Roadmap HR 2011 – 2015 : </a:t>
            </a:r>
          </a:p>
          <a:p>
            <a:r>
              <a:rPr lang="id-ID" sz="4800" b="1" dirty="0" smtClean="0">
                <a:latin typeface="+mn-lt"/>
              </a:rPr>
              <a:t>Key Initiatives in </a:t>
            </a:r>
          </a:p>
          <a:p>
            <a:r>
              <a:rPr lang="id-ID" sz="4800" b="1" dirty="0" smtClean="0">
                <a:latin typeface="+mn-lt"/>
              </a:rPr>
              <a:t>Recruitment and </a:t>
            </a:r>
          </a:p>
          <a:p>
            <a:r>
              <a:rPr lang="id-ID" sz="4800" b="1" dirty="0" smtClean="0">
                <a:latin typeface="+mn-lt"/>
              </a:rPr>
              <a:t>Manpower Planning</a:t>
            </a:r>
            <a:endParaRPr lang="id-ID" sz="4800" b="1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0107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Recruitment and MPP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357430"/>
            <a:ext cx="3429024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Menyusun Manpower </a:t>
            </a:r>
            <a:r>
              <a:rPr lang="id-ID" smtClean="0"/>
              <a:t>Planning 2012 </a:t>
            </a:r>
            <a:r>
              <a:rPr lang="id-ID" dirty="0" smtClean="0"/>
              <a:t>– 2015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Q4 2011 – </a:t>
            </a:r>
          </a:p>
          <a:p>
            <a:r>
              <a:rPr lang="id-ID" i="1" dirty="0" smtClean="0"/>
              <a:t>Q4 2015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57818" y="2357430"/>
            <a:ext cx="3286148" cy="433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Kebutuhan manpower </a:t>
            </a:r>
            <a:r>
              <a:rPr lang="id-ID" smtClean="0"/>
              <a:t>untuk perusahaan hingga </a:t>
            </a:r>
            <a:r>
              <a:rPr lang="id-ID" dirty="0" smtClean="0"/>
              <a:t>2015, di-breakdown per level jabatan.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Kebutuhan manpower termasuk mempertimbangkan pendirian anak perusahaan, atau ekspansi usaha baru.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Di-dalamnya termuat juga rencana dan strategi rekrutmen untuk memenuhi kebutuhan </a:t>
            </a:r>
            <a:r>
              <a:rPr lang="id-ID" smtClean="0"/>
              <a:t>manpower  perusahaan.</a:t>
            </a:r>
            <a:endParaRPr lang="af-ZA" dirty="0"/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0107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Recruitment and MPP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357430"/>
            <a:ext cx="3429024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Projek – Key Success Factors bagi para New Recruits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929058" y="2428868"/>
            <a:ext cx="676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 smtClean="0"/>
              <a:t>Q2 </a:t>
            </a:r>
          </a:p>
          <a:p>
            <a:r>
              <a:rPr lang="id-ID" i="1" dirty="0" smtClean="0"/>
              <a:t>2012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286380" y="2357430"/>
            <a:ext cx="3357586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Terlaksananya kegiatan pengukuran kinerja para pegawai baru; dan bagaimana kepuasan user atas para new recruits. 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Studi ini juga akan meneliti siapa yang memiliki kinerja terbaik; dan lalu diuji : faktor apa saja yang membuat mereka lebih perform di-banding yang lain, termasuk asal perguruan tinggi, konteks pekerjaan, dll.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822518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-24"/>
            <a:ext cx="9144000" cy="107157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357158" y="285728"/>
            <a:ext cx="70107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000" b="1" dirty="0" smtClean="0"/>
              <a:t>Strategic</a:t>
            </a:r>
            <a:r>
              <a:rPr lang="id-ID" sz="3000" b="1" dirty="0" smtClean="0">
                <a:latin typeface="+mn-lt"/>
              </a:rPr>
              <a:t> Initiatives : Recruitment and MPP</a:t>
            </a:r>
            <a:endParaRPr lang="id-ID" sz="3000" b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282" y="2357430"/>
            <a:ext cx="3429024" cy="88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smtClean="0"/>
              <a:t>Goes </a:t>
            </a:r>
            <a:r>
              <a:rPr lang="id-ID" dirty="0" smtClean="0"/>
              <a:t>to Campus</a:t>
            </a:r>
          </a:p>
          <a:p>
            <a:pPr marL="342900" indent="-342900">
              <a:lnSpc>
                <a:spcPts val="2300"/>
              </a:lnSpc>
              <a:spcBef>
                <a:spcPts val="800"/>
              </a:spcBef>
              <a:spcAft>
                <a:spcPts val="800"/>
              </a:spcAft>
              <a:buFont typeface="Arial" pitchFamily="34" charset="0"/>
              <a:buChar char="•"/>
            </a:pPr>
            <a:r>
              <a:rPr lang="id-ID" dirty="0" smtClean="0"/>
              <a:t>Talent Branding</a:t>
            </a:r>
            <a:endParaRPr lang="af-ZA" dirty="0"/>
          </a:p>
        </p:txBody>
      </p:sp>
      <p:sp>
        <p:nvSpPr>
          <p:cNvPr id="38" name="TextBox 37"/>
          <p:cNvSpPr txBox="1"/>
          <p:nvPr/>
        </p:nvSpPr>
        <p:spPr>
          <a:xfrm>
            <a:off x="3500430" y="2428868"/>
            <a:ext cx="1571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 smtClean="0"/>
              <a:t>Q3  2012 </a:t>
            </a:r>
          </a:p>
          <a:p>
            <a:r>
              <a:rPr lang="id-ID" i="1" dirty="0" smtClean="0"/>
              <a:t>Q3 2013</a:t>
            </a:r>
          </a:p>
          <a:p>
            <a:r>
              <a:rPr lang="id-ID" i="1" dirty="0" smtClean="0"/>
              <a:t>Q3 2014</a:t>
            </a:r>
          </a:p>
          <a:p>
            <a:r>
              <a:rPr lang="id-ID" i="1" dirty="0" smtClean="0"/>
              <a:t>Q3 2015</a:t>
            </a:r>
            <a:endParaRPr lang="af-ZA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000628" y="2324955"/>
            <a:ext cx="36433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id-ID" dirty="0" smtClean="0"/>
              <a:t>Terlaksananya kegiatan kunjungan ke kampus-kampus untuk melakukan direct recruitment</a:t>
            </a:r>
          </a:p>
          <a:p>
            <a:pPr marL="342900" lvl="0" indent="-342900"/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id-ID" dirty="0" smtClean="0"/>
              <a:t>Terciptanya media tools (banner, tagline, poster, DVD, dll) untuk melakukan </a:t>
            </a:r>
            <a:r>
              <a:rPr lang="id-ID" b="1" smtClean="0"/>
              <a:t>branding </a:t>
            </a:r>
            <a:r>
              <a:rPr lang="id-ID" b="1"/>
              <a:t> </a:t>
            </a:r>
            <a:r>
              <a:rPr lang="id-ID" b="1" smtClean="0"/>
              <a:t>PT XYZ sebagai </a:t>
            </a:r>
            <a:r>
              <a:rPr lang="id-ID" b="1" dirty="0" smtClean="0"/>
              <a:t>the best place to work. </a:t>
            </a:r>
            <a:r>
              <a:rPr lang="id-ID" dirty="0" smtClean="0"/>
              <a:t>Talent branding merupakan semacam upaya untuk mempromosikan PGN sebagai tempat kerja ideal bagi para sarjana lulusan kampus terkemuka.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282" y="1285860"/>
            <a:ext cx="8715436" cy="7858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46" name="TextBox 45"/>
          <p:cNvSpPr txBox="1"/>
          <p:nvPr/>
        </p:nvSpPr>
        <p:spPr>
          <a:xfrm>
            <a:off x="500034" y="1500174"/>
            <a:ext cx="152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Key Initiatives</a:t>
            </a:r>
            <a:endParaRPr lang="af-ZA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00430" y="1500174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/>
              <a:t>Timeline</a:t>
            </a:r>
            <a:endParaRPr lang="af-ZA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715008" y="1357298"/>
            <a:ext cx="147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Expected Outcomes</a:t>
            </a:r>
            <a:endParaRPr lang="af-ZA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1285860"/>
            <a:ext cx="9144000" cy="2857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/>
          <p:cNvSpPr txBox="1"/>
          <p:nvPr/>
        </p:nvSpPr>
        <p:spPr>
          <a:xfrm>
            <a:off x="571472" y="3071810"/>
            <a:ext cx="80724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End of Slide</a:t>
            </a:r>
            <a:endParaRPr lang="id-ID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214818"/>
            <a:ext cx="9144000" cy="285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1880</Words>
  <Application>Microsoft Office PowerPoint</Application>
  <PresentationFormat>On-screen Show (4:3)</PresentationFormat>
  <Paragraphs>329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Yodhia Antariksa</cp:lastModifiedBy>
  <cp:revision>124</cp:revision>
  <dcterms:created xsi:type="dcterms:W3CDTF">2011-10-14T00:23:29Z</dcterms:created>
  <dcterms:modified xsi:type="dcterms:W3CDTF">2015-05-13T09:18:35Z</dcterms:modified>
</cp:coreProperties>
</file>
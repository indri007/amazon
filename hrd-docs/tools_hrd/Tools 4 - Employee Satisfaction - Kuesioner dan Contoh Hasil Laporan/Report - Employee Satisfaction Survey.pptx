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340" r:id="rId2"/>
    <p:sldId id="325" r:id="rId3"/>
    <p:sldId id="378" r:id="rId4"/>
    <p:sldId id="379" r:id="rId5"/>
    <p:sldId id="380" r:id="rId6"/>
    <p:sldId id="381" r:id="rId7"/>
    <p:sldId id="382" r:id="rId8"/>
    <p:sldId id="383" r:id="rId9"/>
    <p:sldId id="384" r:id="rId10"/>
    <p:sldId id="385" r:id="rId11"/>
    <p:sldId id="349" r:id="rId12"/>
    <p:sldId id="352" r:id="rId13"/>
    <p:sldId id="355" r:id="rId14"/>
    <p:sldId id="356" r:id="rId15"/>
    <p:sldId id="421" r:id="rId16"/>
    <p:sldId id="351" r:id="rId17"/>
    <p:sldId id="354" r:id="rId18"/>
    <p:sldId id="353" r:id="rId19"/>
    <p:sldId id="358" r:id="rId20"/>
    <p:sldId id="367" r:id="rId21"/>
    <p:sldId id="361" r:id="rId22"/>
    <p:sldId id="362" r:id="rId23"/>
    <p:sldId id="363" r:id="rId24"/>
    <p:sldId id="364" r:id="rId25"/>
    <p:sldId id="365" r:id="rId26"/>
    <p:sldId id="368" r:id="rId27"/>
    <p:sldId id="369" r:id="rId28"/>
    <p:sldId id="372" r:id="rId29"/>
    <p:sldId id="373" r:id="rId30"/>
    <p:sldId id="374" r:id="rId31"/>
    <p:sldId id="375" r:id="rId32"/>
    <p:sldId id="376" r:id="rId33"/>
    <p:sldId id="377" r:id="rId34"/>
    <p:sldId id="371" r:id="rId35"/>
    <p:sldId id="398" r:id="rId36"/>
    <p:sldId id="391" r:id="rId37"/>
    <p:sldId id="399" r:id="rId38"/>
    <p:sldId id="423" r:id="rId39"/>
    <p:sldId id="424" r:id="rId40"/>
    <p:sldId id="420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30" autoAdjust="0"/>
    <p:restoredTop sz="94624" autoAdjust="0"/>
  </p:normalViewPr>
  <p:slideViewPr>
    <p:cSldViewPr>
      <p:cViewPr>
        <p:scale>
          <a:sx n="70" d="100"/>
          <a:sy n="70" d="100"/>
        </p:scale>
        <p:origin x="-2724" y="-5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af-Z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f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af-ZA"/>
          </a:p>
        </p:txBody>
      </p:sp>
    </p:spTree>
    <p:extLst>
      <p:ext uri="{BB962C8B-B14F-4D97-AF65-F5344CB8AC3E}">
        <p14:creationId xmlns:p14="http://schemas.microsoft.com/office/powerpoint/2010/main" val="3783872248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gsw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</p:spTree>
    <p:extLst>
      <p:ext uri="{BB962C8B-B14F-4D97-AF65-F5344CB8AC3E}">
        <p14:creationId xmlns:p14="http://schemas.microsoft.com/office/powerpoint/2010/main" val="3978332347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gsw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gsw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0D8-DE1B-4A7E-B164-8423064E2B1C}" type="slidenum">
              <a:rPr lang="gsw-FR" smtClean="0"/>
              <a:pPr/>
              <a:t>‹#›</a:t>
            </a:fld>
            <a:endParaRPr lang="gsw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0D8-DE1B-4A7E-B164-8423064E2B1C}" type="slidenum">
              <a:rPr lang="gsw-FR" smtClean="0"/>
              <a:pPr/>
              <a:t>‹#›</a:t>
            </a:fld>
            <a:endParaRPr lang="gsw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0D8-DE1B-4A7E-B164-8423064E2B1C}" type="slidenum">
              <a:rPr lang="gsw-FR" smtClean="0"/>
              <a:pPr/>
              <a:t>‹#›</a:t>
            </a:fld>
            <a:endParaRPr lang="gsw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0D8-DE1B-4A7E-B164-8423064E2B1C}" type="slidenum">
              <a:rPr lang="gsw-FR" smtClean="0"/>
              <a:pPr/>
              <a:t>‹#›</a:t>
            </a:fld>
            <a:endParaRPr lang="gsw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0D8-DE1B-4A7E-B164-8423064E2B1C}" type="slidenum">
              <a:rPr lang="gsw-FR" smtClean="0"/>
              <a:pPr/>
              <a:t>‹#›</a:t>
            </a:fld>
            <a:endParaRPr lang="gsw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0D8-DE1B-4A7E-B164-8423064E2B1C}" type="slidenum">
              <a:rPr lang="gsw-FR" smtClean="0"/>
              <a:pPr/>
              <a:t>‹#›</a:t>
            </a:fld>
            <a:endParaRPr lang="gsw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0D8-DE1B-4A7E-B164-8423064E2B1C}" type="slidenum">
              <a:rPr lang="gsw-FR" smtClean="0"/>
              <a:pPr/>
              <a:t>‹#›</a:t>
            </a:fld>
            <a:endParaRPr lang="gsw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0D8-DE1B-4A7E-B164-8423064E2B1C}" type="slidenum">
              <a:rPr lang="gsw-FR" smtClean="0"/>
              <a:pPr/>
              <a:t>‹#›</a:t>
            </a:fld>
            <a:endParaRPr lang="gsw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gsw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0D8-DE1B-4A7E-B164-8423064E2B1C}" type="slidenum">
              <a:rPr lang="gsw-FR" smtClean="0"/>
              <a:pPr/>
              <a:t>‹#›</a:t>
            </a:fld>
            <a:endParaRPr lang="gsw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0D8-DE1B-4A7E-B164-8423064E2B1C}" type="slidenum">
              <a:rPr lang="gsw-FR" smtClean="0"/>
              <a:pPr/>
              <a:t>‹#›</a:t>
            </a:fld>
            <a:endParaRPr lang="gsw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sw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0D8-DE1B-4A7E-B164-8423064E2B1C}" type="slidenum">
              <a:rPr lang="gsw-FR" smtClean="0"/>
              <a:pPr/>
              <a:t>‹#›</a:t>
            </a:fld>
            <a:endParaRPr lang="gsw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1" name="Rectangle 11"/>
          <p:cNvSpPr>
            <a:spLocks noChangeArrowheads="1"/>
          </p:cNvSpPr>
          <p:nvPr userDrawn="1"/>
        </p:nvSpPr>
        <p:spPr bwMode="auto">
          <a:xfrm>
            <a:off x="8072462" y="6448032"/>
            <a:ext cx="92390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fld id="{914F3DDE-8A9A-4704-8C34-4A0037B3BBA0}" type="slidenum">
              <a:rPr lang="en-US" sz="1600" b="1">
                <a:solidFill>
                  <a:schemeClr val="tx2">
                    <a:lumMod val="75000"/>
                  </a:schemeClr>
                </a:solidFill>
                <a:latin typeface="Verdana" pitchFamily="34" charset="0"/>
              </a:rPr>
              <a:pPr algn="r"/>
              <a:t>‹#›</a:t>
            </a:fld>
            <a:endParaRPr lang="en-US" sz="1600" b="1" dirty="0">
              <a:solidFill>
                <a:schemeClr val="tx2">
                  <a:lumMod val="75000"/>
                </a:schemeClr>
              </a:solidFill>
              <a:latin typeface="Verdana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642910" y="142852"/>
            <a:ext cx="8501090" cy="1000132"/>
          </a:xfrm>
          <a:prstGeom prst="rect">
            <a:avLst/>
          </a:prstGeom>
          <a:solidFill>
            <a:srgbClr val="0070C0"/>
          </a:solidFill>
          <a:ln w="31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sw-FR"/>
          </a:p>
        </p:txBody>
      </p:sp>
      <p:sp>
        <p:nvSpPr>
          <p:cNvPr id="8" name="Rectangle 7"/>
          <p:cNvSpPr/>
          <p:nvPr userDrawn="1"/>
        </p:nvSpPr>
        <p:spPr>
          <a:xfrm>
            <a:off x="-32" y="142852"/>
            <a:ext cx="571504" cy="1000132"/>
          </a:xfrm>
          <a:prstGeom prst="rect">
            <a:avLst/>
          </a:prstGeom>
          <a:solidFill>
            <a:srgbClr val="92D050"/>
          </a:solidFill>
          <a:ln w="31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sw-FR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gsw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gsw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990D8-DE1B-4A7E-B164-8423064E2B1C}" type="slidenum">
              <a:rPr lang="gsw-FR" smtClean="0"/>
              <a:pPr/>
              <a:t>‹#›</a:t>
            </a:fld>
            <a:endParaRPr lang="gsw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500594" y="0"/>
            <a:ext cx="4643406" cy="607220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5" name="TextBox 4"/>
          <p:cNvSpPr txBox="1"/>
          <p:nvPr/>
        </p:nvSpPr>
        <p:spPr>
          <a:xfrm>
            <a:off x="4714908" y="82705"/>
            <a:ext cx="38576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m-ET" sz="4000" b="1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Laporan</a:t>
            </a:r>
          </a:p>
          <a:p>
            <a:r>
              <a:rPr lang="id-ID" sz="4000" b="1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Employee </a:t>
            </a:r>
            <a:r>
              <a:rPr lang="id-ID" sz="4000" b="1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Satisfaction</a:t>
            </a:r>
          </a:p>
          <a:p>
            <a:r>
              <a:rPr lang="id-ID" sz="4000" b="1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Survey</a:t>
            </a:r>
            <a:endParaRPr lang="id-ID" sz="4000" b="1" noProof="1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r>
              <a:rPr lang="id-ID" sz="4000" b="1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(ESS)</a:t>
            </a:r>
            <a:endParaRPr lang="id-ID" sz="4000" b="1" noProof="1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endParaRPr lang="id-ID" sz="4000" b="1" noProof="1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2" descr="D:\Current Prospect\My Pictures\Photos Banyak\Diskusi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4500562" cy="6072206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5786" y="357166"/>
            <a:ext cx="5643602" cy="689997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108000">
              <a:lnSpc>
                <a:spcPts val="5000"/>
              </a:lnSpc>
            </a:pPr>
            <a:r>
              <a:rPr lang="af-ZA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Contents</a:t>
            </a:r>
            <a:endParaRPr lang="af-ZA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1357298"/>
            <a:ext cx="7929618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id-ID" sz="24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Data Statistik Responden</a:t>
            </a:r>
          </a:p>
          <a:p>
            <a:pPr marL="514350" indent="-51435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id-ID" sz="240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Employee </a:t>
            </a:r>
            <a:r>
              <a:rPr lang="id-ID" sz="240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Satisfaction </a:t>
            </a:r>
            <a:r>
              <a:rPr lang="id-ID" sz="24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Score – Average</a:t>
            </a:r>
          </a:p>
          <a:p>
            <a:pPr marL="514350" indent="-51435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id-ID" sz="240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Employee </a:t>
            </a:r>
            <a:r>
              <a:rPr lang="id-ID" sz="240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Satisfaction </a:t>
            </a:r>
            <a:r>
              <a:rPr lang="id-ID" sz="24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Score dalam 6 Aspek Utama</a:t>
            </a:r>
          </a:p>
          <a:p>
            <a:pPr marL="514350" indent="-51435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id-ID" sz="240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Employee </a:t>
            </a:r>
            <a:r>
              <a:rPr lang="id-ID" sz="240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Satisfaction </a:t>
            </a:r>
            <a:r>
              <a:rPr lang="id-ID" sz="24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Score Berdasar Tingkat Usia, Pendidikan, Golongan/Pangkat, Direktorat, Unit Kerja dan Jenis Kelamin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378619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2" name="TextBox 1"/>
          <p:cNvSpPr txBox="1"/>
          <p:nvPr/>
        </p:nvSpPr>
        <p:spPr>
          <a:xfrm>
            <a:off x="357158" y="2071678"/>
            <a:ext cx="8358246" cy="1374735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108000">
              <a:lnSpc>
                <a:spcPts val="5000"/>
              </a:lnSpc>
            </a:pPr>
            <a:r>
              <a:rPr lang="af-ZA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D</a:t>
            </a:r>
            <a:r>
              <a:rPr lang="id-ID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ata Responden </a:t>
            </a:r>
          </a:p>
          <a:p>
            <a:pPr marL="108000">
              <a:lnSpc>
                <a:spcPts val="5000"/>
              </a:lnSpc>
            </a:pP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Employee </a:t>
            </a: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Satisfaction </a:t>
            </a:r>
            <a:r>
              <a:rPr lang="id-ID" sz="3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Survey </a:t>
            </a:r>
            <a:endParaRPr lang="af-ZA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642910" y="428604"/>
            <a:ext cx="8358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dirty="0" smtClean="0">
                <a:solidFill>
                  <a:schemeClr val="bg1"/>
                </a:solidFill>
              </a:rPr>
              <a:t>Data Responden </a:t>
            </a:r>
            <a:r>
              <a:rPr lang="id-ID" sz="3200" b="1" smtClean="0">
                <a:solidFill>
                  <a:schemeClr val="bg1"/>
                </a:solidFill>
              </a:rPr>
              <a:t>Employee </a:t>
            </a:r>
            <a:r>
              <a:rPr lang="id-ID" sz="3200" b="1" smtClean="0">
                <a:solidFill>
                  <a:schemeClr val="bg1"/>
                </a:solidFill>
              </a:rPr>
              <a:t>Satisfaction </a:t>
            </a:r>
            <a:r>
              <a:rPr lang="id-ID" sz="3200" b="1" dirty="0" smtClean="0">
                <a:solidFill>
                  <a:schemeClr val="bg1"/>
                </a:solidFill>
              </a:rPr>
              <a:t>Survey</a:t>
            </a:r>
            <a:endParaRPr lang="af-ZA" sz="3200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2910" y="1500174"/>
            <a:ext cx="736310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buFont typeface="Arial" pitchFamily="34" charset="0"/>
              <a:buChar char="•"/>
            </a:pPr>
            <a:r>
              <a:rPr lang="id-ID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Total Responden = 77 pegawai</a:t>
            </a:r>
          </a:p>
          <a:p>
            <a:pPr marL="742950" indent="-742950">
              <a:buFont typeface="Arial" pitchFamily="34" charset="0"/>
              <a:buChar char="•"/>
            </a:pPr>
            <a:endParaRPr lang="id-ID" sz="4000" dirty="0" smtClean="0">
              <a:solidFill>
                <a:srgbClr val="002060"/>
              </a:solidFill>
            </a:endParaRPr>
          </a:p>
          <a:p>
            <a:pPr marL="742950" indent="-742950">
              <a:buFont typeface="Arial" pitchFamily="34" charset="0"/>
              <a:buChar char="•"/>
            </a:pPr>
            <a:r>
              <a:rPr lang="id-ID" sz="4000" dirty="0" smtClean="0">
                <a:solidFill>
                  <a:srgbClr val="002060"/>
                </a:solidFill>
              </a:rPr>
              <a:t>Lelaki 		= 78 %</a:t>
            </a:r>
          </a:p>
          <a:p>
            <a:pPr marL="742950" indent="-742950">
              <a:buFont typeface="Arial" pitchFamily="34" charset="0"/>
              <a:buChar char="•"/>
            </a:pPr>
            <a:r>
              <a:rPr lang="id-ID" sz="4000" dirty="0" smtClean="0">
                <a:solidFill>
                  <a:srgbClr val="002060"/>
                </a:solidFill>
              </a:rPr>
              <a:t>Perempuan 	= 22 %</a:t>
            </a:r>
            <a:endParaRPr lang="af-ZA" sz="4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14348" y="1357298"/>
            <a:ext cx="6245621" cy="54271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lnSpc>
                <a:spcPts val="5200"/>
              </a:lnSpc>
            </a:pPr>
            <a:r>
              <a:rPr lang="id-ID" sz="3600" b="1" dirty="0" smtClean="0">
                <a:solidFill>
                  <a:srgbClr val="002060"/>
                </a:solidFill>
              </a:rPr>
              <a:t>Golongan Usia :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>
                <a:solidFill>
                  <a:srgbClr val="002060"/>
                </a:solidFill>
              </a:rPr>
              <a:t>&lt; 25 tahun 		= 39 %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>
                <a:solidFill>
                  <a:srgbClr val="002060"/>
                </a:solidFill>
              </a:rPr>
              <a:t>26 – 35			= 34 %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>
                <a:solidFill>
                  <a:srgbClr val="002060"/>
                </a:solidFill>
              </a:rPr>
              <a:t>36 – 40			=   3 %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>
                <a:solidFill>
                  <a:srgbClr val="002060"/>
                </a:solidFill>
              </a:rPr>
              <a:t>41 – 45			=   8 %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>
                <a:solidFill>
                  <a:srgbClr val="002060"/>
                </a:solidFill>
              </a:rPr>
              <a:t>46 – 50			=   4 %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>
                <a:solidFill>
                  <a:srgbClr val="002060"/>
                </a:solidFill>
              </a:rPr>
              <a:t>&gt; 50			= 13 %</a:t>
            </a:r>
          </a:p>
          <a:p>
            <a:pPr marL="1200150" lvl="1" indent="-742950">
              <a:lnSpc>
                <a:spcPts val="5200"/>
              </a:lnSpc>
            </a:pPr>
            <a:endParaRPr lang="af-ZA" sz="3600" dirty="0"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 flipH="1">
            <a:off x="642910" y="428604"/>
            <a:ext cx="8358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dirty="0" smtClean="0">
                <a:solidFill>
                  <a:schemeClr val="bg1"/>
                </a:solidFill>
              </a:rPr>
              <a:t>Data Responden </a:t>
            </a:r>
            <a:r>
              <a:rPr lang="id-ID" sz="3200" b="1" smtClean="0">
                <a:solidFill>
                  <a:schemeClr val="bg1"/>
                </a:solidFill>
              </a:rPr>
              <a:t>Employee </a:t>
            </a:r>
            <a:r>
              <a:rPr lang="id-ID" sz="3200" b="1" smtClean="0">
                <a:solidFill>
                  <a:schemeClr val="bg1"/>
                </a:solidFill>
              </a:rPr>
              <a:t>Satisfaction </a:t>
            </a:r>
            <a:r>
              <a:rPr lang="id-ID" sz="3200" b="1" dirty="0" smtClean="0">
                <a:solidFill>
                  <a:schemeClr val="bg1"/>
                </a:solidFill>
              </a:rPr>
              <a:t>Survey</a:t>
            </a:r>
            <a:endParaRPr lang="af-ZA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42910" y="1216583"/>
            <a:ext cx="5652509" cy="47602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lnSpc>
                <a:spcPts val="5200"/>
              </a:lnSpc>
            </a:pPr>
            <a:r>
              <a:rPr lang="id-ID" sz="3400" b="1" dirty="0" smtClean="0">
                <a:solidFill>
                  <a:srgbClr val="002060"/>
                </a:solidFill>
              </a:rPr>
              <a:t>Golongan/Pangkat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400" dirty="0" smtClean="0">
                <a:solidFill>
                  <a:srgbClr val="002060"/>
                </a:solidFill>
              </a:rPr>
              <a:t>OS				31 %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400" dirty="0" smtClean="0">
                <a:solidFill>
                  <a:srgbClr val="002060"/>
                </a:solidFill>
              </a:rPr>
              <a:t>PKWT			18 %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400" dirty="0" smtClean="0">
                <a:solidFill>
                  <a:srgbClr val="002060"/>
                </a:solidFill>
              </a:rPr>
              <a:t>Staff			23 %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400" smtClean="0">
                <a:solidFill>
                  <a:srgbClr val="002060"/>
                </a:solidFill>
              </a:rPr>
              <a:t>Asmen	</a:t>
            </a:r>
            <a:r>
              <a:rPr lang="id-ID" sz="3400" dirty="0" smtClean="0">
                <a:solidFill>
                  <a:srgbClr val="002060"/>
                </a:solidFill>
              </a:rPr>
              <a:t>		  9 %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400" dirty="0" smtClean="0">
                <a:solidFill>
                  <a:srgbClr val="002060"/>
                </a:solidFill>
              </a:rPr>
              <a:t>Manajer/Deputi	12 %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400" dirty="0" smtClean="0">
                <a:solidFill>
                  <a:srgbClr val="002060"/>
                </a:solidFill>
              </a:rPr>
              <a:t>Direktur			  3 %</a:t>
            </a:r>
            <a:endParaRPr lang="af-ZA" sz="3400" dirty="0"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 flipH="1">
            <a:off x="642910" y="428604"/>
            <a:ext cx="8358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dirty="0" smtClean="0">
                <a:solidFill>
                  <a:schemeClr val="bg1"/>
                </a:solidFill>
              </a:rPr>
              <a:t>Data Responden </a:t>
            </a:r>
            <a:r>
              <a:rPr lang="id-ID" sz="3200" b="1" smtClean="0">
                <a:solidFill>
                  <a:schemeClr val="bg1"/>
                </a:solidFill>
              </a:rPr>
              <a:t>Employee </a:t>
            </a:r>
            <a:r>
              <a:rPr lang="id-ID" sz="3200" b="1" smtClean="0">
                <a:solidFill>
                  <a:schemeClr val="bg1"/>
                </a:solidFill>
              </a:rPr>
              <a:t>Satisfaction </a:t>
            </a:r>
            <a:r>
              <a:rPr lang="id-ID" sz="3200" b="1" dirty="0" smtClean="0">
                <a:solidFill>
                  <a:schemeClr val="bg1"/>
                </a:solidFill>
              </a:rPr>
              <a:t>Survey</a:t>
            </a:r>
            <a:endParaRPr lang="af-ZA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42910" y="1428736"/>
            <a:ext cx="6141425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lnSpc>
                <a:spcPts val="5200"/>
              </a:lnSpc>
            </a:pPr>
            <a:r>
              <a:rPr lang="id-ID" sz="3600" b="1" dirty="0" smtClean="0">
                <a:solidFill>
                  <a:srgbClr val="002060"/>
                </a:solidFill>
              </a:rPr>
              <a:t>Tingkat Pendidikan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>
                <a:solidFill>
                  <a:srgbClr val="002060"/>
                </a:solidFill>
              </a:rPr>
              <a:t>&lt; SLTA			=   5 %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>
                <a:solidFill>
                  <a:srgbClr val="002060"/>
                </a:solidFill>
              </a:rPr>
              <a:t>SLTA			= 29 %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>
                <a:solidFill>
                  <a:srgbClr val="002060"/>
                </a:solidFill>
              </a:rPr>
              <a:t>Diploma		=   5 %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>
                <a:solidFill>
                  <a:srgbClr val="002060"/>
                </a:solidFill>
              </a:rPr>
              <a:t>S1				= 51 %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>
                <a:solidFill>
                  <a:srgbClr val="002060"/>
                </a:solidFill>
              </a:rPr>
              <a:t>S2/S3			=   8 %</a:t>
            </a:r>
            <a:endParaRPr lang="af-ZA" sz="3600" dirty="0"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 flipH="1">
            <a:off x="642910" y="428604"/>
            <a:ext cx="8358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dirty="0" smtClean="0">
                <a:solidFill>
                  <a:schemeClr val="bg1"/>
                </a:solidFill>
              </a:rPr>
              <a:t>Data Responden </a:t>
            </a:r>
            <a:r>
              <a:rPr lang="id-ID" sz="3200" b="1" smtClean="0">
                <a:solidFill>
                  <a:schemeClr val="bg1"/>
                </a:solidFill>
              </a:rPr>
              <a:t>Employee </a:t>
            </a:r>
            <a:r>
              <a:rPr lang="id-ID" sz="3200" b="1" smtClean="0">
                <a:solidFill>
                  <a:schemeClr val="bg1"/>
                </a:solidFill>
              </a:rPr>
              <a:t>Satisfaction </a:t>
            </a:r>
            <a:r>
              <a:rPr lang="id-ID" sz="3200" b="1" dirty="0" smtClean="0">
                <a:solidFill>
                  <a:schemeClr val="bg1"/>
                </a:solidFill>
              </a:rPr>
              <a:t>Survey</a:t>
            </a:r>
            <a:endParaRPr lang="af-ZA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42910" y="1428736"/>
            <a:ext cx="6647974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lnSpc>
                <a:spcPts val="5200"/>
              </a:lnSpc>
            </a:pPr>
            <a:r>
              <a:rPr lang="id-ID" sz="3600" b="1" dirty="0" smtClean="0">
                <a:solidFill>
                  <a:srgbClr val="002060"/>
                </a:solidFill>
              </a:rPr>
              <a:t>Lama Bekerja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>
                <a:solidFill>
                  <a:srgbClr val="002060"/>
                </a:solidFill>
              </a:rPr>
              <a:t>&lt; 4 tahun		= 83 %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>
                <a:solidFill>
                  <a:srgbClr val="002060"/>
                </a:solidFill>
              </a:rPr>
              <a:t>4 – 8 tahun		=   4 %	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>
                <a:solidFill>
                  <a:srgbClr val="002060"/>
                </a:solidFill>
              </a:rPr>
              <a:t>9 – 15 tahun		=   -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>
                <a:solidFill>
                  <a:srgbClr val="002060"/>
                </a:solidFill>
              </a:rPr>
              <a:t>16 – 25 tahun	=   3 %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>
                <a:solidFill>
                  <a:srgbClr val="002060"/>
                </a:solidFill>
              </a:rPr>
              <a:t>&gt; 25 tahun		=   8 %</a:t>
            </a:r>
            <a:endParaRPr lang="af-ZA" sz="3600" dirty="0"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 flipH="1">
            <a:off x="642910" y="428604"/>
            <a:ext cx="8358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dirty="0" smtClean="0">
                <a:solidFill>
                  <a:schemeClr val="bg1"/>
                </a:solidFill>
              </a:rPr>
              <a:t>Data Responden </a:t>
            </a:r>
            <a:r>
              <a:rPr lang="id-ID" sz="3200" b="1" smtClean="0">
                <a:solidFill>
                  <a:schemeClr val="bg1"/>
                </a:solidFill>
              </a:rPr>
              <a:t>Employee </a:t>
            </a:r>
            <a:r>
              <a:rPr lang="id-ID" sz="3200" b="1" smtClean="0">
                <a:solidFill>
                  <a:schemeClr val="bg1"/>
                </a:solidFill>
              </a:rPr>
              <a:t>Satisfaction </a:t>
            </a:r>
            <a:r>
              <a:rPr lang="id-ID" sz="3200" b="1" dirty="0" smtClean="0">
                <a:solidFill>
                  <a:schemeClr val="bg1"/>
                </a:solidFill>
              </a:rPr>
              <a:t>Survey</a:t>
            </a:r>
            <a:endParaRPr lang="af-ZA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71472" y="1260616"/>
            <a:ext cx="7643866" cy="2657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lnSpc>
                <a:spcPts val="4000"/>
              </a:lnSpc>
            </a:pPr>
            <a:r>
              <a:rPr lang="id-ID" sz="2600" b="1" dirty="0" smtClean="0">
                <a:solidFill>
                  <a:srgbClr val="002060"/>
                </a:solidFill>
              </a:rPr>
              <a:t>Direktorat</a:t>
            </a:r>
          </a:p>
          <a:p>
            <a:pPr marL="1200150" lvl="1" indent="-742950">
              <a:lnSpc>
                <a:spcPts val="4000"/>
              </a:lnSpc>
              <a:buAutoNum type="alphaLcParenR"/>
            </a:pPr>
            <a:r>
              <a:rPr lang="id-ID" sz="2600" dirty="0" smtClean="0">
                <a:solidFill>
                  <a:srgbClr val="002060"/>
                </a:solidFill>
              </a:rPr>
              <a:t>Direktorat Operasi			58%	</a:t>
            </a:r>
          </a:p>
          <a:p>
            <a:pPr marL="1200150" lvl="1" indent="-742950">
              <a:lnSpc>
                <a:spcPts val="4000"/>
              </a:lnSpc>
              <a:buAutoNum type="alphaLcParenR"/>
            </a:pPr>
            <a:r>
              <a:rPr lang="id-ID" sz="2600" dirty="0" smtClean="0">
                <a:solidFill>
                  <a:srgbClr val="002060"/>
                </a:solidFill>
              </a:rPr>
              <a:t>Direktorat SDM dan Keuangan		22%</a:t>
            </a:r>
          </a:p>
          <a:p>
            <a:pPr marL="1200150" lvl="1" indent="-742950">
              <a:lnSpc>
                <a:spcPts val="4000"/>
              </a:lnSpc>
              <a:buAutoNum type="alphaLcParenR"/>
            </a:pPr>
            <a:r>
              <a:rPr lang="id-ID" sz="2600" dirty="0" smtClean="0">
                <a:solidFill>
                  <a:srgbClr val="002060"/>
                </a:solidFill>
              </a:rPr>
              <a:t>Sekretaris Perusahaan			  6%</a:t>
            </a:r>
          </a:p>
          <a:p>
            <a:pPr marL="1200150" lvl="1" indent="-742950">
              <a:lnSpc>
                <a:spcPts val="4000"/>
              </a:lnSpc>
              <a:buAutoNum type="alphaLcParenR"/>
            </a:pPr>
            <a:r>
              <a:rPr lang="id-ID" sz="2600" smtClean="0">
                <a:solidFill>
                  <a:srgbClr val="002060"/>
                </a:solidFill>
              </a:rPr>
              <a:t>Direktorat Komersial</a:t>
            </a:r>
            <a:r>
              <a:rPr lang="id-ID" sz="2600" dirty="0" smtClean="0">
                <a:solidFill>
                  <a:srgbClr val="002060"/>
                </a:solidFill>
              </a:rPr>
              <a:t>			13%	</a:t>
            </a:r>
            <a:endParaRPr lang="af-ZA" sz="2600" dirty="0"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 flipH="1">
            <a:off x="642910" y="428604"/>
            <a:ext cx="8358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dirty="0" smtClean="0">
                <a:solidFill>
                  <a:schemeClr val="bg1"/>
                </a:solidFill>
              </a:rPr>
              <a:t>Data Responden </a:t>
            </a:r>
            <a:r>
              <a:rPr lang="id-ID" sz="3200" b="1" smtClean="0">
                <a:solidFill>
                  <a:schemeClr val="bg1"/>
                </a:solidFill>
              </a:rPr>
              <a:t>Employee </a:t>
            </a:r>
            <a:r>
              <a:rPr lang="id-ID" sz="3200" b="1" smtClean="0">
                <a:solidFill>
                  <a:schemeClr val="bg1"/>
                </a:solidFill>
              </a:rPr>
              <a:t>Satisfaction </a:t>
            </a:r>
            <a:r>
              <a:rPr lang="id-ID" sz="3200" b="1" dirty="0" smtClean="0">
                <a:solidFill>
                  <a:schemeClr val="bg1"/>
                </a:solidFill>
              </a:rPr>
              <a:t>Survey</a:t>
            </a:r>
            <a:endParaRPr lang="af-ZA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42910" y="1216583"/>
            <a:ext cx="6037230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lnSpc>
                <a:spcPts val="5200"/>
              </a:lnSpc>
            </a:pPr>
            <a:r>
              <a:rPr lang="id-ID" sz="3600" b="1" dirty="0" smtClean="0">
                <a:solidFill>
                  <a:srgbClr val="002060"/>
                </a:solidFill>
              </a:rPr>
              <a:t>Unit Kerja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>
                <a:solidFill>
                  <a:srgbClr val="002060"/>
                </a:solidFill>
              </a:rPr>
              <a:t>Kantor Pusat		= 71 %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>
                <a:solidFill>
                  <a:srgbClr val="002060"/>
                </a:solidFill>
              </a:rPr>
              <a:t>Lapangan		= 29 %</a:t>
            </a:r>
          </a:p>
        </p:txBody>
      </p:sp>
      <p:sp>
        <p:nvSpPr>
          <p:cNvPr id="5" name="TextBox 4"/>
          <p:cNvSpPr txBox="1"/>
          <p:nvPr/>
        </p:nvSpPr>
        <p:spPr>
          <a:xfrm flipH="1">
            <a:off x="642910" y="428604"/>
            <a:ext cx="8358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dirty="0" smtClean="0">
                <a:solidFill>
                  <a:schemeClr val="bg1"/>
                </a:solidFill>
              </a:rPr>
              <a:t>Data Responden </a:t>
            </a:r>
            <a:r>
              <a:rPr lang="id-ID" sz="3200" b="1" smtClean="0">
                <a:solidFill>
                  <a:schemeClr val="bg1"/>
                </a:solidFill>
              </a:rPr>
              <a:t>Employee </a:t>
            </a:r>
            <a:r>
              <a:rPr lang="id-ID" sz="3200" b="1" smtClean="0">
                <a:solidFill>
                  <a:schemeClr val="bg1"/>
                </a:solidFill>
              </a:rPr>
              <a:t>Satisfaction </a:t>
            </a:r>
            <a:r>
              <a:rPr lang="id-ID" sz="3200" b="1" dirty="0" smtClean="0">
                <a:solidFill>
                  <a:schemeClr val="bg1"/>
                </a:solidFill>
              </a:rPr>
              <a:t>Survey</a:t>
            </a:r>
            <a:endParaRPr lang="af-ZA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378619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2" name="TextBox 1"/>
          <p:cNvSpPr txBox="1"/>
          <p:nvPr/>
        </p:nvSpPr>
        <p:spPr>
          <a:xfrm>
            <a:off x="285720" y="1928802"/>
            <a:ext cx="7715304" cy="2015936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108000">
              <a:lnSpc>
                <a:spcPts val="5000"/>
              </a:lnSpc>
            </a:pPr>
            <a:r>
              <a:rPr lang="id-ID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Item Kuesioner dan Skor </a:t>
            </a:r>
            <a:r>
              <a:rPr lang="id-ID" sz="40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Employee </a:t>
            </a:r>
            <a:r>
              <a:rPr lang="id-ID" sz="40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Satisfaction </a:t>
            </a:r>
            <a:r>
              <a:rPr lang="id-ID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Survey</a:t>
            </a:r>
          </a:p>
          <a:p>
            <a:pPr marL="108000">
              <a:lnSpc>
                <a:spcPts val="5000"/>
              </a:lnSpc>
            </a:pPr>
            <a:endParaRPr lang="af-ZA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785786" y="428604"/>
            <a:ext cx="8358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dirty="0" smtClean="0">
                <a:solidFill>
                  <a:schemeClr val="bg1"/>
                </a:solidFill>
              </a:rPr>
              <a:t>Isi Kuesioner </a:t>
            </a:r>
            <a:r>
              <a:rPr lang="id-ID" sz="3200" b="1" smtClean="0">
                <a:solidFill>
                  <a:schemeClr val="bg1"/>
                </a:solidFill>
              </a:rPr>
              <a:t>Employee </a:t>
            </a:r>
            <a:r>
              <a:rPr lang="id-ID" sz="3200" b="1" smtClean="0">
                <a:solidFill>
                  <a:schemeClr val="bg1"/>
                </a:solidFill>
              </a:rPr>
              <a:t>Satisfaction </a:t>
            </a:r>
            <a:r>
              <a:rPr lang="id-ID" sz="3200" b="1" dirty="0" smtClean="0">
                <a:solidFill>
                  <a:schemeClr val="bg1"/>
                </a:solidFill>
              </a:rPr>
              <a:t>Survey</a:t>
            </a:r>
            <a:endParaRPr lang="af-ZA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472" y="1357298"/>
            <a:ext cx="807249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4000"/>
              </a:lnSpc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id-ID" sz="3000" dirty="0" smtClean="0"/>
              <a:t>Kuesioner terdiri dari 25 item pernyataan, dan  dibagi menjadi 6 aspek utama, yakni :</a:t>
            </a:r>
          </a:p>
          <a:p>
            <a:pPr marL="800100" lvl="1" indent="-342900">
              <a:lnSpc>
                <a:spcPts val="4000"/>
              </a:lnSpc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id-ID" sz="3000" b="1" dirty="0" smtClean="0">
                <a:solidFill>
                  <a:srgbClr val="0070C0"/>
                </a:solidFill>
              </a:rPr>
              <a:t>Aspek Organisasi </a:t>
            </a:r>
            <a:r>
              <a:rPr lang="id-ID" sz="3000" dirty="0" smtClean="0"/>
              <a:t>(4 item pernyataan) : berfokus pada aspek kepuasan dan kebanggaan terhadap terhadap </a:t>
            </a:r>
            <a:r>
              <a:rPr lang="id-ID" sz="3000" i="1" dirty="0" smtClean="0"/>
              <a:t>organisasi secara kesuluruhan</a:t>
            </a:r>
          </a:p>
          <a:p>
            <a:pPr marL="800100" lvl="1" indent="-342900">
              <a:lnSpc>
                <a:spcPts val="4000"/>
              </a:lnSpc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id-ID" sz="3000" b="1" dirty="0" smtClean="0">
                <a:solidFill>
                  <a:srgbClr val="0070C0"/>
                </a:solidFill>
              </a:rPr>
              <a:t>Aspek Pekerjaan </a:t>
            </a:r>
            <a:r>
              <a:rPr lang="id-ID" sz="3000" dirty="0" smtClean="0"/>
              <a:t>(6 item) : berfokus pada kepuasan dan komitmen atas pekerjaan (</a:t>
            </a:r>
            <a:r>
              <a:rPr lang="id-ID" sz="3000" smtClean="0"/>
              <a:t>job </a:t>
            </a:r>
            <a:r>
              <a:rPr lang="id-ID" sz="3000" smtClean="0"/>
              <a:t>Satisfaction)</a:t>
            </a:r>
            <a:endParaRPr lang="af-ZA" sz="3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1472" y="1357298"/>
            <a:ext cx="807249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ts val="4000"/>
              </a:lnSpc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id-ID" sz="3000" b="1" dirty="0" smtClean="0">
                <a:solidFill>
                  <a:srgbClr val="0070C0"/>
                </a:solidFill>
              </a:rPr>
              <a:t>Aspek Pengembangan Diri dan Karir </a:t>
            </a:r>
            <a:r>
              <a:rPr lang="id-ID" sz="3000" dirty="0" smtClean="0"/>
              <a:t>(5 item) : berfokus pada kepuasan atas kesempatan pengembangan diri dan karir</a:t>
            </a:r>
          </a:p>
          <a:p>
            <a:pPr marL="800100" lvl="1" indent="-342900">
              <a:lnSpc>
                <a:spcPts val="4000"/>
              </a:lnSpc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id-ID" sz="3000" b="1" dirty="0" smtClean="0">
                <a:solidFill>
                  <a:srgbClr val="0070C0"/>
                </a:solidFill>
              </a:rPr>
              <a:t>Aspek Lingkungan Kerja </a:t>
            </a:r>
            <a:r>
              <a:rPr lang="id-ID" sz="3000" dirty="0" smtClean="0"/>
              <a:t>(4 item) : berfokus pada kepuasan atas lingkungan kerja dan hubungan dengan sesama rekan kerja</a:t>
            </a:r>
          </a:p>
          <a:p>
            <a:pPr marL="800100" lvl="1" indent="-342900">
              <a:lnSpc>
                <a:spcPts val="4000"/>
              </a:lnSpc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id-ID" sz="3000" b="1" dirty="0" smtClean="0">
                <a:solidFill>
                  <a:srgbClr val="0070C0"/>
                </a:solidFill>
              </a:rPr>
              <a:t>Aspek Benefit </a:t>
            </a:r>
            <a:r>
              <a:rPr lang="id-ID" sz="3000" dirty="0" smtClean="0"/>
              <a:t>(3 item) : berfokus pada kepuasan atas kebijakan remunerasi yang diberikan perusahaan</a:t>
            </a:r>
            <a:endParaRPr lang="af-ZA" sz="3000" dirty="0"/>
          </a:p>
        </p:txBody>
      </p:sp>
      <p:sp>
        <p:nvSpPr>
          <p:cNvPr id="7" name="TextBox 6"/>
          <p:cNvSpPr txBox="1"/>
          <p:nvPr/>
        </p:nvSpPr>
        <p:spPr>
          <a:xfrm flipH="1">
            <a:off x="785786" y="428604"/>
            <a:ext cx="8358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dirty="0" smtClean="0">
                <a:solidFill>
                  <a:schemeClr val="bg1"/>
                </a:solidFill>
              </a:rPr>
              <a:t>Isi Kuesioner </a:t>
            </a:r>
            <a:r>
              <a:rPr lang="id-ID" sz="3200" b="1" smtClean="0">
                <a:solidFill>
                  <a:schemeClr val="bg1"/>
                </a:solidFill>
              </a:rPr>
              <a:t>Employee </a:t>
            </a:r>
            <a:r>
              <a:rPr lang="id-ID" sz="3200" b="1" smtClean="0">
                <a:solidFill>
                  <a:schemeClr val="bg1"/>
                </a:solidFill>
              </a:rPr>
              <a:t>Satisfaction </a:t>
            </a:r>
            <a:r>
              <a:rPr lang="id-ID" sz="3200" b="1" dirty="0" smtClean="0">
                <a:solidFill>
                  <a:schemeClr val="bg1"/>
                </a:solidFill>
              </a:rPr>
              <a:t>Survey</a:t>
            </a:r>
            <a:endParaRPr lang="af-ZA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1472" y="1357298"/>
            <a:ext cx="8072494" cy="2144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ts val="4000"/>
              </a:lnSpc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id-ID" sz="3000" b="1" dirty="0" smtClean="0">
                <a:solidFill>
                  <a:srgbClr val="0070C0"/>
                </a:solidFill>
              </a:rPr>
              <a:t>Aspek Komitmen dan Nilai Perusahaan </a:t>
            </a:r>
            <a:r>
              <a:rPr lang="id-ID" sz="3000" dirty="0" smtClean="0"/>
              <a:t>(3 item) : berfokus pada kepuasan atas level komitmen karyawan dan juga penerapan tata nilai budaya perusahaan.</a:t>
            </a:r>
            <a:endParaRPr lang="af-ZA" sz="3000" dirty="0"/>
          </a:p>
        </p:txBody>
      </p:sp>
      <p:sp>
        <p:nvSpPr>
          <p:cNvPr id="7" name="TextBox 6"/>
          <p:cNvSpPr txBox="1"/>
          <p:nvPr/>
        </p:nvSpPr>
        <p:spPr>
          <a:xfrm flipH="1">
            <a:off x="785786" y="428604"/>
            <a:ext cx="8358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dirty="0" smtClean="0">
                <a:solidFill>
                  <a:schemeClr val="bg1"/>
                </a:solidFill>
              </a:rPr>
              <a:t>Isi Kuesioner </a:t>
            </a:r>
            <a:r>
              <a:rPr lang="id-ID" sz="3200" b="1" smtClean="0">
                <a:solidFill>
                  <a:schemeClr val="bg1"/>
                </a:solidFill>
              </a:rPr>
              <a:t>Employee </a:t>
            </a:r>
            <a:r>
              <a:rPr lang="id-ID" sz="3200" b="1" smtClean="0">
                <a:solidFill>
                  <a:schemeClr val="bg1"/>
                </a:solidFill>
              </a:rPr>
              <a:t>Satisfaction </a:t>
            </a:r>
            <a:r>
              <a:rPr lang="id-ID" sz="3200" b="1" dirty="0" smtClean="0">
                <a:solidFill>
                  <a:schemeClr val="bg1"/>
                </a:solidFill>
              </a:rPr>
              <a:t>Survey</a:t>
            </a:r>
            <a:endParaRPr lang="af-ZA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4714884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 dirty="0"/>
          </a:p>
        </p:txBody>
      </p:sp>
      <p:sp>
        <p:nvSpPr>
          <p:cNvPr id="8" name="TextBox 7"/>
          <p:cNvSpPr txBox="1"/>
          <p:nvPr/>
        </p:nvSpPr>
        <p:spPr>
          <a:xfrm>
            <a:off x="500034" y="285728"/>
            <a:ext cx="692948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6000" dirty="0" smtClean="0">
                <a:solidFill>
                  <a:schemeClr val="bg1"/>
                </a:solidFill>
              </a:rPr>
              <a:t>Average Score </a:t>
            </a:r>
            <a:r>
              <a:rPr lang="id-ID" sz="6000" smtClean="0">
                <a:solidFill>
                  <a:schemeClr val="bg1"/>
                </a:solidFill>
              </a:rPr>
              <a:t>Employee </a:t>
            </a:r>
            <a:r>
              <a:rPr lang="id-ID" sz="6000" smtClean="0">
                <a:solidFill>
                  <a:schemeClr val="bg1"/>
                </a:solidFill>
              </a:rPr>
              <a:t>Satisfaction </a:t>
            </a:r>
            <a:r>
              <a:rPr lang="id-ID" sz="6000" dirty="0" smtClean="0">
                <a:solidFill>
                  <a:schemeClr val="bg1"/>
                </a:solidFill>
              </a:rPr>
              <a:t>Survey</a:t>
            </a:r>
          </a:p>
          <a:p>
            <a:r>
              <a:rPr lang="id-ID" sz="8000" b="1" dirty="0" smtClean="0">
                <a:solidFill>
                  <a:schemeClr val="bg1"/>
                </a:solidFill>
              </a:rPr>
              <a:t>3.91</a:t>
            </a:r>
          </a:p>
          <a:p>
            <a:endParaRPr lang="af-ZA" sz="60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1472" y="4857760"/>
            <a:ext cx="60681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i="1" dirty="0" smtClean="0"/>
              <a:t>Semua DATA</a:t>
            </a:r>
          </a:p>
          <a:p>
            <a:r>
              <a:rPr lang="id-ID" b="1" i="1" dirty="0" smtClean="0"/>
              <a:t>Skala 1 – 5 dimana 5 = sangat puas dan 1 = sangat tidak puas</a:t>
            </a:r>
          </a:p>
          <a:p>
            <a:r>
              <a:rPr lang="id-ID" b="1" i="1" dirty="0" smtClean="0"/>
              <a:t>Benchmark data  Indonesia : 3.75</a:t>
            </a:r>
            <a:endParaRPr lang="af-ZA" b="1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428596" y="1285860"/>
            <a:ext cx="3929090" cy="785818"/>
          </a:xfrm>
          <a:prstGeom prst="roundRect">
            <a:avLst/>
          </a:prstGeom>
          <a:solidFill>
            <a:srgbClr val="92D05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1142984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 dirty="0"/>
          </a:p>
        </p:txBody>
      </p:sp>
      <p:sp>
        <p:nvSpPr>
          <p:cNvPr id="8" name="TextBox 7"/>
          <p:cNvSpPr txBox="1"/>
          <p:nvPr/>
        </p:nvSpPr>
        <p:spPr>
          <a:xfrm>
            <a:off x="285720" y="214290"/>
            <a:ext cx="83582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000" dirty="0" smtClean="0">
                <a:solidFill>
                  <a:schemeClr val="bg1"/>
                </a:solidFill>
              </a:rPr>
              <a:t>Average </a:t>
            </a:r>
            <a:r>
              <a:rPr lang="id-ID" sz="4000" smtClean="0">
                <a:solidFill>
                  <a:schemeClr val="bg1"/>
                </a:solidFill>
              </a:rPr>
              <a:t>Score </a:t>
            </a:r>
            <a:r>
              <a:rPr lang="id-ID" sz="4000" smtClean="0">
                <a:solidFill>
                  <a:schemeClr val="bg1"/>
                </a:solidFill>
              </a:rPr>
              <a:t>ESS </a:t>
            </a:r>
            <a:r>
              <a:rPr lang="id-ID" sz="4000" dirty="0" smtClean="0">
                <a:solidFill>
                  <a:schemeClr val="bg1"/>
                </a:solidFill>
              </a:rPr>
              <a:t>on 6 Key Aspects</a:t>
            </a:r>
            <a:endParaRPr lang="af-ZA" sz="40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 flipH="1">
            <a:off x="642910" y="1357298"/>
            <a:ext cx="35004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dirty="0" smtClean="0"/>
              <a:t>Aspek Organisasi</a:t>
            </a:r>
            <a:endParaRPr lang="af-ZA" sz="3200" dirty="0"/>
          </a:p>
        </p:txBody>
      </p:sp>
      <p:sp>
        <p:nvSpPr>
          <p:cNvPr id="11" name="Right Arrow 10"/>
          <p:cNvSpPr/>
          <p:nvPr/>
        </p:nvSpPr>
        <p:spPr>
          <a:xfrm>
            <a:off x="4572000" y="1285860"/>
            <a:ext cx="785818" cy="714380"/>
          </a:xfrm>
          <a:prstGeom prst="rightArrow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12" name="Rounded Rectangle 11"/>
          <p:cNvSpPr/>
          <p:nvPr/>
        </p:nvSpPr>
        <p:spPr>
          <a:xfrm>
            <a:off x="428596" y="2214554"/>
            <a:ext cx="3929090" cy="857256"/>
          </a:xfrm>
          <a:prstGeom prst="roundRect">
            <a:avLst/>
          </a:prstGeom>
          <a:solidFill>
            <a:srgbClr val="92D05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 sz="2800"/>
          </a:p>
        </p:txBody>
      </p:sp>
      <p:sp>
        <p:nvSpPr>
          <p:cNvPr id="13" name="TextBox 12"/>
          <p:cNvSpPr txBox="1"/>
          <p:nvPr/>
        </p:nvSpPr>
        <p:spPr>
          <a:xfrm flipH="1">
            <a:off x="642910" y="2354041"/>
            <a:ext cx="35004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dirty="0" smtClean="0"/>
              <a:t>Aspek Pekerjaan</a:t>
            </a:r>
            <a:endParaRPr lang="af-ZA" sz="3200" dirty="0"/>
          </a:p>
        </p:txBody>
      </p:sp>
      <p:sp>
        <p:nvSpPr>
          <p:cNvPr id="15" name="Rounded Rectangle 14"/>
          <p:cNvSpPr/>
          <p:nvPr/>
        </p:nvSpPr>
        <p:spPr>
          <a:xfrm>
            <a:off x="428596" y="3214686"/>
            <a:ext cx="3929090" cy="78581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16" name="TextBox 15"/>
          <p:cNvSpPr txBox="1"/>
          <p:nvPr/>
        </p:nvSpPr>
        <p:spPr>
          <a:xfrm flipH="1">
            <a:off x="571472" y="3334408"/>
            <a:ext cx="35004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dirty="0" smtClean="0"/>
              <a:t>Aspek Pengembangan </a:t>
            </a:r>
            <a:endParaRPr lang="af-ZA" sz="2800" dirty="0"/>
          </a:p>
        </p:txBody>
      </p:sp>
      <p:sp>
        <p:nvSpPr>
          <p:cNvPr id="18" name="Rounded Rectangle 17"/>
          <p:cNvSpPr/>
          <p:nvPr/>
        </p:nvSpPr>
        <p:spPr>
          <a:xfrm>
            <a:off x="428596" y="4143380"/>
            <a:ext cx="3929090" cy="785818"/>
          </a:xfrm>
          <a:prstGeom prst="roundRect">
            <a:avLst/>
          </a:prstGeom>
          <a:solidFill>
            <a:srgbClr val="92D05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19" name="TextBox 18"/>
          <p:cNvSpPr txBox="1"/>
          <p:nvPr/>
        </p:nvSpPr>
        <p:spPr>
          <a:xfrm flipH="1">
            <a:off x="571472" y="4286256"/>
            <a:ext cx="371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dirty="0" smtClean="0"/>
              <a:t>Aspek Lingkungan Kerja</a:t>
            </a:r>
            <a:endParaRPr lang="af-ZA" sz="2800" dirty="0"/>
          </a:p>
        </p:txBody>
      </p:sp>
      <p:sp>
        <p:nvSpPr>
          <p:cNvPr id="21" name="Rounded Rectangle 20"/>
          <p:cNvSpPr/>
          <p:nvPr/>
        </p:nvSpPr>
        <p:spPr>
          <a:xfrm>
            <a:off x="428596" y="5072074"/>
            <a:ext cx="3929090" cy="78581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22" name="TextBox 21"/>
          <p:cNvSpPr txBox="1"/>
          <p:nvPr/>
        </p:nvSpPr>
        <p:spPr>
          <a:xfrm flipH="1">
            <a:off x="571472" y="5214950"/>
            <a:ext cx="371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dirty="0" smtClean="0"/>
              <a:t>Aspek Benefit</a:t>
            </a:r>
            <a:endParaRPr lang="af-ZA" sz="2800" dirty="0"/>
          </a:p>
        </p:txBody>
      </p:sp>
      <p:sp>
        <p:nvSpPr>
          <p:cNvPr id="23" name="Rounded Rectangle 22"/>
          <p:cNvSpPr/>
          <p:nvPr/>
        </p:nvSpPr>
        <p:spPr>
          <a:xfrm>
            <a:off x="428596" y="6000768"/>
            <a:ext cx="3929090" cy="785818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24" name="TextBox 23"/>
          <p:cNvSpPr txBox="1"/>
          <p:nvPr/>
        </p:nvSpPr>
        <p:spPr>
          <a:xfrm flipH="1">
            <a:off x="571472" y="6143644"/>
            <a:ext cx="39290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600" dirty="0" smtClean="0"/>
              <a:t>Aspek Budaya Perusahaan</a:t>
            </a:r>
            <a:endParaRPr lang="af-ZA" sz="2600" dirty="0"/>
          </a:p>
        </p:txBody>
      </p:sp>
      <p:sp>
        <p:nvSpPr>
          <p:cNvPr id="25" name="TextBox 24"/>
          <p:cNvSpPr txBox="1"/>
          <p:nvPr/>
        </p:nvSpPr>
        <p:spPr>
          <a:xfrm flipH="1">
            <a:off x="5429256" y="1285860"/>
            <a:ext cx="1714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000" b="1" dirty="0" smtClean="0">
                <a:solidFill>
                  <a:srgbClr val="002060"/>
                </a:solidFill>
              </a:rPr>
              <a:t>4,09</a:t>
            </a:r>
            <a:endParaRPr lang="af-ZA" sz="4000" b="1" dirty="0">
              <a:solidFill>
                <a:srgbClr val="002060"/>
              </a:solidFill>
            </a:endParaRPr>
          </a:p>
        </p:txBody>
      </p:sp>
      <p:sp>
        <p:nvSpPr>
          <p:cNvPr id="26" name="Right Arrow 25"/>
          <p:cNvSpPr/>
          <p:nvPr/>
        </p:nvSpPr>
        <p:spPr>
          <a:xfrm>
            <a:off x="4572000" y="2214554"/>
            <a:ext cx="785818" cy="714380"/>
          </a:xfrm>
          <a:prstGeom prst="rightArrow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27" name="TextBox 26"/>
          <p:cNvSpPr txBox="1"/>
          <p:nvPr/>
        </p:nvSpPr>
        <p:spPr>
          <a:xfrm flipH="1">
            <a:off x="5429256" y="2214554"/>
            <a:ext cx="1714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000" dirty="0" smtClean="0">
                <a:solidFill>
                  <a:srgbClr val="0000FF"/>
                </a:solidFill>
              </a:rPr>
              <a:t>3,93</a:t>
            </a:r>
            <a:endParaRPr lang="af-ZA" sz="4000" dirty="0">
              <a:solidFill>
                <a:srgbClr val="0000FF"/>
              </a:solidFill>
            </a:endParaRPr>
          </a:p>
        </p:txBody>
      </p:sp>
      <p:sp>
        <p:nvSpPr>
          <p:cNvPr id="28" name="Right Arrow 27"/>
          <p:cNvSpPr/>
          <p:nvPr/>
        </p:nvSpPr>
        <p:spPr>
          <a:xfrm>
            <a:off x="4572000" y="3214686"/>
            <a:ext cx="785818" cy="714380"/>
          </a:xfrm>
          <a:prstGeom prst="rightArrow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29" name="TextBox 28"/>
          <p:cNvSpPr txBox="1"/>
          <p:nvPr/>
        </p:nvSpPr>
        <p:spPr>
          <a:xfrm flipH="1">
            <a:off x="5429256" y="3214686"/>
            <a:ext cx="1714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000" dirty="0" smtClean="0">
                <a:solidFill>
                  <a:srgbClr val="C00000"/>
                </a:solidFill>
              </a:rPr>
              <a:t>3,89</a:t>
            </a:r>
            <a:endParaRPr lang="af-ZA" sz="4000" dirty="0">
              <a:solidFill>
                <a:srgbClr val="C00000"/>
              </a:solidFill>
            </a:endParaRPr>
          </a:p>
        </p:txBody>
      </p:sp>
      <p:sp>
        <p:nvSpPr>
          <p:cNvPr id="30" name="Right Arrow 29"/>
          <p:cNvSpPr/>
          <p:nvPr/>
        </p:nvSpPr>
        <p:spPr>
          <a:xfrm>
            <a:off x="4572000" y="4143380"/>
            <a:ext cx="785818" cy="714380"/>
          </a:xfrm>
          <a:prstGeom prst="rightArrow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31" name="TextBox 30"/>
          <p:cNvSpPr txBox="1"/>
          <p:nvPr/>
        </p:nvSpPr>
        <p:spPr>
          <a:xfrm flipH="1">
            <a:off x="5429256" y="4143380"/>
            <a:ext cx="1714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000" dirty="0" smtClean="0">
                <a:solidFill>
                  <a:srgbClr val="0000FF"/>
                </a:solidFill>
              </a:rPr>
              <a:t>3,93</a:t>
            </a:r>
            <a:endParaRPr lang="af-ZA" sz="4000" dirty="0">
              <a:solidFill>
                <a:srgbClr val="0000FF"/>
              </a:solidFill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4572000" y="5143512"/>
            <a:ext cx="785818" cy="714380"/>
          </a:xfrm>
          <a:prstGeom prst="rightArrow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33" name="TextBox 32"/>
          <p:cNvSpPr txBox="1"/>
          <p:nvPr/>
        </p:nvSpPr>
        <p:spPr>
          <a:xfrm flipH="1">
            <a:off x="5429256" y="5143512"/>
            <a:ext cx="1714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000" dirty="0" smtClean="0">
                <a:solidFill>
                  <a:srgbClr val="C00000"/>
                </a:solidFill>
              </a:rPr>
              <a:t>3,58</a:t>
            </a:r>
            <a:endParaRPr lang="af-ZA" sz="4000" dirty="0">
              <a:solidFill>
                <a:srgbClr val="C00000"/>
              </a:solidFill>
            </a:endParaRPr>
          </a:p>
        </p:txBody>
      </p:sp>
      <p:sp>
        <p:nvSpPr>
          <p:cNvPr id="34" name="Right Arrow 33"/>
          <p:cNvSpPr/>
          <p:nvPr/>
        </p:nvSpPr>
        <p:spPr>
          <a:xfrm>
            <a:off x="4572000" y="6072206"/>
            <a:ext cx="785818" cy="714380"/>
          </a:xfrm>
          <a:prstGeom prst="rightArrow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35" name="TextBox 34"/>
          <p:cNvSpPr txBox="1"/>
          <p:nvPr/>
        </p:nvSpPr>
        <p:spPr>
          <a:xfrm flipH="1">
            <a:off x="5429256" y="6072206"/>
            <a:ext cx="1714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000" dirty="0" smtClean="0">
                <a:solidFill>
                  <a:srgbClr val="0000FF"/>
                </a:solidFill>
              </a:rPr>
              <a:t>3,95</a:t>
            </a:r>
            <a:endParaRPr lang="af-ZA" sz="40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785818" y="357166"/>
            <a:ext cx="835821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800" b="1" smtClean="0">
                <a:solidFill>
                  <a:schemeClr val="bg1"/>
                </a:solidFill>
              </a:rPr>
              <a:t>ESS </a:t>
            </a:r>
            <a:r>
              <a:rPr lang="id-ID" sz="3800" b="1" dirty="0" smtClean="0">
                <a:solidFill>
                  <a:schemeClr val="bg1"/>
                </a:solidFill>
              </a:rPr>
              <a:t>Score on Six Key Areas</a:t>
            </a:r>
            <a:endParaRPr lang="af-ZA" sz="38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472" y="1357298"/>
            <a:ext cx="8072494" cy="4811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4000"/>
              </a:lnSpc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id-ID" sz="3000" smtClean="0"/>
              <a:t>Skor </a:t>
            </a:r>
            <a:r>
              <a:rPr lang="id-ID" sz="3000" smtClean="0"/>
              <a:t>ESS </a:t>
            </a:r>
            <a:r>
              <a:rPr lang="id-ID" sz="3000" dirty="0" smtClean="0"/>
              <a:t>tertinggi ada pada dimensi “Organisasi” yakni </a:t>
            </a:r>
            <a:r>
              <a:rPr lang="id-ID" sz="3000" b="1" dirty="0" smtClean="0">
                <a:solidFill>
                  <a:srgbClr val="0070C0"/>
                </a:solidFill>
              </a:rPr>
              <a:t>4,09.</a:t>
            </a:r>
            <a:endParaRPr lang="id-ID" sz="3000" dirty="0" smtClean="0"/>
          </a:p>
          <a:p>
            <a:pPr marL="342900" indent="-342900">
              <a:lnSpc>
                <a:spcPts val="4000"/>
              </a:lnSpc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id-ID" sz="3000" dirty="0" smtClean="0"/>
              <a:t>Dimensi ini berfokus pada aspek kebanggaan organisasi; dan perlakukan </a:t>
            </a:r>
            <a:r>
              <a:rPr lang="id-ID" sz="3000" smtClean="0"/>
              <a:t>umum </a:t>
            </a:r>
            <a:r>
              <a:rPr lang="id-ID" sz="3000" smtClean="0"/>
              <a:t>PT. XYZ terhadap </a:t>
            </a:r>
            <a:r>
              <a:rPr lang="id-ID" sz="3000" dirty="0" smtClean="0"/>
              <a:t>segenap pegawainya. </a:t>
            </a:r>
          </a:p>
          <a:p>
            <a:pPr marL="342900" indent="-342900">
              <a:lnSpc>
                <a:spcPts val="4000"/>
              </a:lnSpc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id-ID" sz="3000" dirty="0" smtClean="0"/>
              <a:t>Data diatas mengindikasikan adanya komitmen kuat dan loyalitas dari para pegawai terhadap organisasinya. </a:t>
            </a:r>
            <a:endParaRPr lang="af-ZA" sz="3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1472" y="1357298"/>
            <a:ext cx="8286808" cy="4503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4000"/>
              </a:lnSpc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id-ID" sz="3000" dirty="0" smtClean="0"/>
              <a:t>Dari 25 item pernyataan, maka item yang mendapatkan skor tertinggi (yakni 4,4) adalah item yang berbunyi </a:t>
            </a:r>
            <a:r>
              <a:rPr lang="id-ID" sz="3000" dirty="0" smtClean="0">
                <a:solidFill>
                  <a:srgbClr val="0000FF"/>
                </a:solidFill>
              </a:rPr>
              <a:t>: “</a:t>
            </a:r>
            <a:r>
              <a:rPr lang="af-ZA" sz="3200" i="1" dirty="0" smtClean="0">
                <a:solidFill>
                  <a:srgbClr val="0000FF"/>
                </a:solidFill>
              </a:rPr>
              <a:t>Saya o</a:t>
            </a:r>
            <a:r>
              <a:rPr lang="id-ID" sz="3200" i="1" dirty="0" smtClean="0">
                <a:solidFill>
                  <a:srgbClr val="0000FF"/>
                </a:solidFill>
              </a:rPr>
              <a:t>ptimis dengan masa depan perusahaan ini”</a:t>
            </a:r>
            <a:endParaRPr lang="id-ID" sz="3200" dirty="0" smtClean="0">
              <a:solidFill>
                <a:srgbClr val="0000FF"/>
              </a:solidFill>
            </a:endParaRPr>
          </a:p>
          <a:p>
            <a:pPr marL="342900" indent="-342900">
              <a:lnSpc>
                <a:spcPts val="4000"/>
              </a:lnSpc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id-ID" sz="3200" dirty="0" smtClean="0"/>
              <a:t>Item yang mendapatkan skor tertinggi kedua (yakni 4,2) adalah </a:t>
            </a:r>
            <a:r>
              <a:rPr lang="id-ID" sz="3200" dirty="0" smtClean="0">
                <a:solidFill>
                  <a:srgbClr val="0000FF"/>
                </a:solidFill>
              </a:rPr>
              <a:t>: “</a:t>
            </a:r>
            <a:r>
              <a:rPr lang="id-ID" sz="3200" i="1" dirty="0" smtClean="0">
                <a:solidFill>
                  <a:srgbClr val="0000FF"/>
                </a:solidFill>
              </a:rPr>
              <a:t>Saya bangga mengatakan pada orang lain bahwa saya </a:t>
            </a:r>
            <a:r>
              <a:rPr lang="id-ID" sz="3200" i="1" smtClean="0">
                <a:solidFill>
                  <a:srgbClr val="0000FF"/>
                </a:solidFill>
              </a:rPr>
              <a:t>bekerja untuk PT. XYZ”</a:t>
            </a:r>
            <a:endParaRPr lang="af-ZA" sz="3000" dirty="0">
              <a:solidFill>
                <a:srgbClr val="0000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 flipH="1">
            <a:off x="785818" y="357166"/>
            <a:ext cx="835821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800" b="1" smtClean="0">
                <a:solidFill>
                  <a:schemeClr val="bg1"/>
                </a:solidFill>
              </a:rPr>
              <a:t>ESS </a:t>
            </a:r>
            <a:r>
              <a:rPr lang="id-ID" sz="3800" b="1" dirty="0" smtClean="0">
                <a:solidFill>
                  <a:schemeClr val="bg1"/>
                </a:solidFill>
              </a:rPr>
              <a:t>Score on Six Key Areas</a:t>
            </a:r>
            <a:endParaRPr lang="af-ZA" sz="3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1472" y="1357298"/>
            <a:ext cx="8286808" cy="2964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4000"/>
              </a:lnSpc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id-ID" sz="3000" dirty="0" smtClean="0"/>
              <a:t>Dari 25 item pernyataan, maka item yang mendapatkan skor terendah = 3,5 (adalah item yang berbunyi :</a:t>
            </a:r>
          </a:p>
          <a:p>
            <a:pPr marL="342900" indent="-342900">
              <a:lnSpc>
                <a:spcPts val="4000"/>
              </a:lnSpc>
              <a:spcBef>
                <a:spcPts val="1200"/>
              </a:spcBef>
              <a:spcAft>
                <a:spcPts val="1200"/>
              </a:spcAft>
            </a:pPr>
            <a:r>
              <a:rPr lang="id-ID" sz="3000" dirty="0" smtClean="0"/>
              <a:t>“</a:t>
            </a:r>
            <a:r>
              <a:rPr lang="id-ID" sz="3200" i="1" dirty="0" smtClean="0">
                <a:solidFill>
                  <a:srgbClr val="C00000"/>
                </a:solidFill>
              </a:rPr>
              <a:t>Saya puas dengan kesempatan karir yang ada dalam organisasi</a:t>
            </a:r>
            <a:r>
              <a:rPr lang="id-ID" sz="3200" dirty="0" smtClean="0"/>
              <a:t>.”</a:t>
            </a:r>
          </a:p>
        </p:txBody>
      </p:sp>
      <p:sp>
        <p:nvSpPr>
          <p:cNvPr id="6" name="TextBox 5"/>
          <p:cNvSpPr txBox="1"/>
          <p:nvPr/>
        </p:nvSpPr>
        <p:spPr>
          <a:xfrm flipH="1">
            <a:off x="785818" y="357166"/>
            <a:ext cx="835821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800" b="1" smtClean="0">
                <a:solidFill>
                  <a:schemeClr val="bg1"/>
                </a:solidFill>
              </a:rPr>
              <a:t>ESS </a:t>
            </a:r>
            <a:r>
              <a:rPr lang="id-ID" sz="3800" b="1" dirty="0" smtClean="0">
                <a:solidFill>
                  <a:schemeClr val="bg1"/>
                </a:solidFill>
              </a:rPr>
              <a:t>Score on Six Key Areas</a:t>
            </a:r>
            <a:endParaRPr lang="af-ZA" sz="3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378619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2" name="TextBox 1"/>
          <p:cNvSpPr txBox="1"/>
          <p:nvPr/>
        </p:nvSpPr>
        <p:spPr>
          <a:xfrm>
            <a:off x="285720" y="1785926"/>
            <a:ext cx="8215370" cy="1374735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108000">
              <a:lnSpc>
                <a:spcPts val="5000"/>
              </a:lnSpc>
            </a:pPr>
            <a:r>
              <a:rPr lang="id-ID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Pembahasan </a:t>
            </a:r>
            <a:r>
              <a:rPr lang="id-ID" sz="40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Skor </a:t>
            </a:r>
            <a:r>
              <a:rPr lang="id-ID" sz="40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ESS </a:t>
            </a:r>
            <a:r>
              <a:rPr lang="id-ID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untuk </a:t>
            </a:r>
          </a:p>
          <a:p>
            <a:pPr marL="108000">
              <a:lnSpc>
                <a:spcPts val="5000"/>
              </a:lnSpc>
            </a:pPr>
            <a:r>
              <a:rPr lang="id-ID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6 Dimensi Utama</a:t>
            </a:r>
            <a:endParaRPr lang="af-ZA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785818" y="357166"/>
            <a:ext cx="835821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800" b="1" dirty="0" smtClean="0">
                <a:solidFill>
                  <a:schemeClr val="bg1"/>
                </a:solidFill>
              </a:rPr>
              <a:t>Aspek ORGANISASI</a:t>
            </a:r>
            <a:endParaRPr lang="af-ZA" sz="38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472" y="1357298"/>
            <a:ext cx="8072494" cy="4503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4000"/>
              </a:lnSpc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id-ID" sz="3000" dirty="0" smtClean="0"/>
              <a:t>Seperti disebutkan di depan, dalam aspek Organisasi ini, maka rata-rata skor kepuasan karyawan adalah yang tertinggi yakni : 4,09</a:t>
            </a:r>
          </a:p>
          <a:p>
            <a:pPr marL="342900" indent="-342900">
              <a:lnSpc>
                <a:spcPts val="4000"/>
              </a:lnSpc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id-ID" sz="3000" dirty="0" smtClean="0"/>
              <a:t>Pegawai merasa bahwa perusahaan telah memperlakukan mereka dengan baik (4,2); mereka merasa bangga bekerja </a:t>
            </a:r>
            <a:r>
              <a:rPr lang="id-ID" sz="3000" smtClean="0"/>
              <a:t>di PT.  XYZ (4,2</a:t>
            </a:r>
            <a:r>
              <a:rPr lang="id-ID" sz="3000" dirty="0" smtClean="0"/>
              <a:t>) dan dengan memperhatikan segala aspek, mereka puas bekerja </a:t>
            </a:r>
            <a:r>
              <a:rPr lang="id-ID" sz="3000" smtClean="0"/>
              <a:t>di PT. XYZ </a:t>
            </a:r>
            <a:r>
              <a:rPr lang="id-ID" sz="3000" dirty="0" smtClean="0"/>
              <a:t>(4,0).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785818" y="357166"/>
            <a:ext cx="835821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800" b="1" dirty="0" smtClean="0">
                <a:solidFill>
                  <a:schemeClr val="bg1"/>
                </a:solidFill>
              </a:rPr>
              <a:t>Aspek PEKERJAAN</a:t>
            </a:r>
            <a:endParaRPr lang="af-ZA" sz="38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472" y="1357298"/>
            <a:ext cx="8072494" cy="4811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4000"/>
              </a:lnSpc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id-ID" sz="3000" dirty="0" smtClean="0"/>
              <a:t>Dalam dimensi ini, rata-rata skor adalah </a:t>
            </a:r>
            <a:r>
              <a:rPr lang="id-ID" sz="3000" b="1" dirty="0" smtClean="0"/>
              <a:t>3,93</a:t>
            </a:r>
            <a:r>
              <a:rPr lang="id-ID" sz="3000" dirty="0" smtClean="0"/>
              <a:t>.</a:t>
            </a:r>
          </a:p>
          <a:p>
            <a:pPr marL="342900" indent="-342900">
              <a:lnSpc>
                <a:spcPts val="4000"/>
              </a:lnSpc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id-ID" sz="3000" dirty="0" smtClean="0"/>
              <a:t>Skor tertinggi (4,2) dalam aspek ini ada pada item mengenai : </a:t>
            </a:r>
            <a:r>
              <a:rPr lang="id-ID" sz="3000" dirty="0" smtClean="0">
                <a:solidFill>
                  <a:srgbClr val="7030A0"/>
                </a:solidFill>
              </a:rPr>
              <a:t>“</a:t>
            </a:r>
            <a:r>
              <a:rPr lang="af-ZA" sz="3200" i="1" dirty="0" smtClean="0">
                <a:solidFill>
                  <a:srgbClr val="7030A0"/>
                </a:solidFill>
              </a:rPr>
              <a:t>Saya memahami apa yang diharapkan dari saya di lingkungan pekerjaan saya</a:t>
            </a:r>
            <a:r>
              <a:rPr lang="id-ID" sz="3200" dirty="0" smtClean="0">
                <a:solidFill>
                  <a:srgbClr val="7030A0"/>
                </a:solidFill>
              </a:rPr>
              <a:t>”</a:t>
            </a:r>
            <a:r>
              <a:rPr lang="af-ZA" sz="3200" dirty="0" smtClean="0">
                <a:solidFill>
                  <a:srgbClr val="7030A0"/>
                </a:solidFill>
              </a:rPr>
              <a:t>. </a:t>
            </a:r>
          </a:p>
          <a:p>
            <a:pPr marL="342900" indent="-342900">
              <a:lnSpc>
                <a:spcPts val="4000"/>
              </a:lnSpc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id-ID" sz="3200" dirty="0" smtClean="0"/>
              <a:t>Skor tinggi (4,0) juga terdapat dalam item yang mengatakan : </a:t>
            </a:r>
            <a:r>
              <a:rPr lang="id-ID" sz="3200" dirty="0" smtClean="0">
                <a:solidFill>
                  <a:srgbClr val="7030A0"/>
                </a:solidFill>
              </a:rPr>
              <a:t>“</a:t>
            </a:r>
            <a:r>
              <a:rPr lang="af-ZA" sz="3200" i="1" dirty="0" smtClean="0">
                <a:solidFill>
                  <a:srgbClr val="7030A0"/>
                </a:solidFill>
              </a:rPr>
              <a:t>Pekerjaan saya  menantang dan menarik</a:t>
            </a:r>
            <a:r>
              <a:rPr lang="id-ID" sz="3200" dirty="0" smtClean="0">
                <a:solidFill>
                  <a:srgbClr val="7030A0"/>
                </a:solidFill>
              </a:rPr>
              <a:t>”.</a:t>
            </a:r>
            <a:endParaRPr lang="id-ID" sz="3000" dirty="0" smtClean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785818" y="357166"/>
            <a:ext cx="835821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800" b="1" dirty="0" smtClean="0">
                <a:solidFill>
                  <a:schemeClr val="bg1"/>
                </a:solidFill>
              </a:rPr>
              <a:t>Aspek PENGEMBANGAN</a:t>
            </a:r>
            <a:endParaRPr lang="af-ZA" sz="38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472" y="1357298"/>
            <a:ext cx="8072494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4000"/>
              </a:lnSpc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id-ID" sz="3000" dirty="0" smtClean="0"/>
              <a:t>Seperti diuraikan didepan, rata-rata skor untuk dimensi ini </a:t>
            </a:r>
            <a:r>
              <a:rPr lang="id-ID" sz="3000" b="1" dirty="0" smtClean="0"/>
              <a:t>adalah 3,89.</a:t>
            </a:r>
          </a:p>
          <a:p>
            <a:pPr marL="342900" indent="-34290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id-ID" sz="2800" dirty="0" smtClean="0"/>
              <a:t>Skor yang relatif rendah (3,5) adalah item yang berbunyi </a:t>
            </a:r>
            <a:r>
              <a:rPr lang="id-ID" sz="2800" dirty="0" smtClean="0">
                <a:solidFill>
                  <a:srgbClr val="C00000"/>
                </a:solidFill>
              </a:rPr>
              <a:t>:“</a:t>
            </a:r>
            <a:r>
              <a:rPr lang="af-ZA" sz="2800" i="1" dirty="0" smtClean="0">
                <a:solidFill>
                  <a:srgbClr val="C00000"/>
                </a:solidFill>
              </a:rPr>
              <a:t>Saya  puas dengan kesempatan karir yang ada di dalam organisasi</a:t>
            </a:r>
            <a:r>
              <a:rPr lang="af-ZA" sz="2800" dirty="0" smtClean="0">
                <a:solidFill>
                  <a:srgbClr val="C00000"/>
                </a:solidFill>
              </a:rPr>
              <a:t>.</a:t>
            </a:r>
            <a:r>
              <a:rPr lang="id-ID" sz="2800" dirty="0" smtClean="0">
                <a:solidFill>
                  <a:srgbClr val="C00000"/>
                </a:solidFill>
              </a:rPr>
              <a:t>”</a:t>
            </a:r>
            <a:endParaRPr lang="en-US" sz="2800" dirty="0" smtClean="0">
              <a:solidFill>
                <a:srgbClr val="C00000"/>
              </a:solidFill>
            </a:endParaRPr>
          </a:p>
          <a:p>
            <a:pPr marL="342900" indent="-34290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id-ID" sz="2800" dirty="0" smtClean="0"/>
              <a:t>Namun dalam item lain terdapat skor relatif tinggi (4,1), yakni pada item : </a:t>
            </a:r>
            <a:r>
              <a:rPr lang="id-ID" sz="2800" i="1" dirty="0" smtClean="0">
                <a:solidFill>
                  <a:srgbClr val="C00000"/>
                </a:solidFill>
              </a:rPr>
              <a:t>“Secara periodik, saya menerima umpan balik dari atasan mengenai kinerja yang saya lakukan”.</a:t>
            </a:r>
            <a:endParaRPr lang="id-ID" sz="3000" i="1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785818" y="357166"/>
            <a:ext cx="835821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800" b="1" dirty="0" smtClean="0">
                <a:solidFill>
                  <a:schemeClr val="bg1"/>
                </a:solidFill>
              </a:rPr>
              <a:t>Aspek LINGKUNGAN KERJA</a:t>
            </a:r>
            <a:endParaRPr lang="af-ZA" sz="38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472" y="1285860"/>
            <a:ext cx="807249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4000"/>
              </a:lnSpc>
              <a:spcBef>
                <a:spcPts val="1000"/>
              </a:spcBef>
              <a:spcAft>
                <a:spcPts val="1000"/>
              </a:spcAft>
              <a:buFont typeface="Arial" pitchFamily="34" charset="0"/>
              <a:buChar char="•"/>
            </a:pPr>
            <a:r>
              <a:rPr lang="id-ID" sz="3000" dirty="0" smtClean="0"/>
              <a:t>Dalam dimensi ini, maka rata-rata skor kepuasan pegawai adalah 3,93.</a:t>
            </a:r>
          </a:p>
          <a:p>
            <a:pPr marL="342900" indent="-342900">
              <a:lnSpc>
                <a:spcPts val="4000"/>
              </a:lnSpc>
              <a:spcBef>
                <a:spcPts val="1000"/>
              </a:spcBef>
              <a:spcAft>
                <a:spcPts val="1000"/>
              </a:spcAft>
              <a:buFont typeface="Arial" pitchFamily="34" charset="0"/>
              <a:buChar char="•"/>
            </a:pPr>
            <a:r>
              <a:rPr lang="id-ID" sz="3000" dirty="0" smtClean="0"/>
              <a:t>Skor yang relatif tinggi (4,0) ada pada item pernyataan : “</a:t>
            </a:r>
            <a:r>
              <a:rPr lang="af-ZA" sz="3000" i="1" dirty="0" smtClean="0"/>
              <a:t>Saya merasa puas dengan kerjasama antar pegawai dilingkungan kerja saya</a:t>
            </a:r>
            <a:r>
              <a:rPr lang="id-ID" sz="3000" dirty="0" smtClean="0"/>
              <a:t>”.</a:t>
            </a:r>
            <a:endParaRPr lang="en-US" sz="3000" dirty="0" smtClean="0"/>
          </a:p>
          <a:p>
            <a:pPr marL="342900" indent="-342900">
              <a:lnSpc>
                <a:spcPts val="4000"/>
              </a:lnSpc>
              <a:spcBef>
                <a:spcPts val="1000"/>
              </a:spcBef>
              <a:spcAft>
                <a:spcPts val="1000"/>
              </a:spcAft>
              <a:buFont typeface="Arial" pitchFamily="34" charset="0"/>
              <a:buChar char="•"/>
            </a:pPr>
            <a:r>
              <a:rPr lang="id-ID" sz="3000" dirty="0" smtClean="0"/>
              <a:t>Selain itu pegawai juga merasa puas dengan</a:t>
            </a:r>
            <a:r>
              <a:rPr lang="af-ZA" sz="3000" dirty="0" smtClean="0"/>
              <a:t> dengan cara-cara anggota kelompok kerja </a:t>
            </a:r>
            <a:r>
              <a:rPr lang="id-ID" sz="3000" dirty="0" smtClean="0"/>
              <a:t>mereka</a:t>
            </a:r>
            <a:r>
              <a:rPr lang="af-ZA" sz="3000" dirty="0" smtClean="0"/>
              <a:t> memecahkan masalah</a:t>
            </a:r>
            <a:r>
              <a:rPr lang="id-ID" sz="3000" dirty="0" smtClean="0"/>
              <a:t> (skor 3,9)</a:t>
            </a:r>
            <a:r>
              <a:rPr lang="af-ZA" sz="3000" dirty="0" smtClean="0"/>
              <a:t>.</a:t>
            </a:r>
            <a:endParaRPr lang="id-ID" sz="3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785818" y="357166"/>
            <a:ext cx="835821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800" b="1" dirty="0" smtClean="0">
                <a:solidFill>
                  <a:schemeClr val="bg1"/>
                </a:solidFill>
              </a:rPr>
              <a:t>Aspek BENEFIT</a:t>
            </a:r>
            <a:endParaRPr lang="af-ZA" sz="38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472" y="1285860"/>
            <a:ext cx="8215370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800"/>
              </a:lnSpc>
              <a:spcBef>
                <a:spcPts val="1000"/>
              </a:spcBef>
              <a:spcAft>
                <a:spcPts val="1000"/>
              </a:spcAft>
              <a:buFont typeface="Arial" pitchFamily="34" charset="0"/>
              <a:buChar char="•"/>
            </a:pPr>
            <a:r>
              <a:rPr lang="id-ID" sz="2800" dirty="0" smtClean="0"/>
              <a:t>Rata-rata skor untuk aspek ini adalah yang paling rendah, yakni : 3.58</a:t>
            </a:r>
          </a:p>
          <a:p>
            <a:pPr marL="342900" indent="-342900">
              <a:lnSpc>
                <a:spcPts val="3800"/>
              </a:lnSpc>
              <a:spcBef>
                <a:spcPts val="1000"/>
              </a:spcBef>
              <a:spcAft>
                <a:spcPts val="1000"/>
              </a:spcAft>
              <a:buFont typeface="Arial" pitchFamily="34" charset="0"/>
              <a:buChar char="•"/>
            </a:pPr>
            <a:r>
              <a:rPr lang="id-ID" sz="2800" dirty="0" smtClean="0"/>
              <a:t>Item yang dinilai paling rendah (3,4) adalah : </a:t>
            </a:r>
            <a:r>
              <a:rPr lang="id-ID" sz="2800" i="1" dirty="0" smtClean="0">
                <a:solidFill>
                  <a:srgbClr val="C00000"/>
                </a:solidFill>
              </a:rPr>
              <a:t>“Saya merasa puas dengan imbalan gaji yang diberikan perusahaan kepada saya”.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785818" y="357166"/>
            <a:ext cx="835821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800" b="1" dirty="0" smtClean="0">
                <a:solidFill>
                  <a:schemeClr val="bg1"/>
                </a:solidFill>
              </a:rPr>
              <a:t>Aspek Komitmen dan Tata Nilai</a:t>
            </a:r>
            <a:endParaRPr lang="af-ZA" sz="38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472" y="1285860"/>
            <a:ext cx="8072494" cy="5221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4000"/>
              </a:lnSpc>
              <a:spcBef>
                <a:spcPts val="1000"/>
              </a:spcBef>
              <a:spcAft>
                <a:spcPts val="1000"/>
              </a:spcAft>
              <a:buFont typeface="Arial" pitchFamily="34" charset="0"/>
              <a:buChar char="•"/>
            </a:pPr>
            <a:r>
              <a:rPr lang="id-ID" sz="3000" dirty="0" smtClean="0"/>
              <a:t>Dalam dimensi ini, maka rata-rata skor kepuasan pegawai adalah 3,95 (atau dibawah rata-rata skor).</a:t>
            </a:r>
          </a:p>
          <a:p>
            <a:pPr marL="342900" indent="-342900">
              <a:lnSpc>
                <a:spcPts val="4000"/>
              </a:lnSpc>
              <a:spcBef>
                <a:spcPts val="1000"/>
              </a:spcBef>
              <a:spcAft>
                <a:spcPts val="1000"/>
              </a:spcAft>
              <a:buFont typeface="Arial" pitchFamily="34" charset="0"/>
              <a:buChar char="•"/>
            </a:pPr>
            <a:r>
              <a:rPr lang="id-ID" sz="3000" dirty="0" smtClean="0"/>
              <a:t>Skor yang relatif rendah (3,6) terdapat dalam item : </a:t>
            </a:r>
            <a:r>
              <a:rPr lang="id-ID" sz="3000" i="1" dirty="0" smtClean="0">
                <a:solidFill>
                  <a:srgbClr val="C00000"/>
                </a:solidFill>
              </a:rPr>
              <a:t>“Segenap anggota perusahaan sudah menerapkan tata nilai perusahaan dengan optimal”.</a:t>
            </a:r>
          </a:p>
          <a:p>
            <a:pPr marL="342900" indent="-342900">
              <a:lnSpc>
                <a:spcPts val="4000"/>
              </a:lnSpc>
              <a:spcBef>
                <a:spcPts val="1000"/>
              </a:spcBef>
              <a:spcAft>
                <a:spcPts val="1000"/>
              </a:spcAft>
              <a:buFont typeface="Arial" pitchFamily="34" charset="0"/>
              <a:buChar char="•"/>
            </a:pPr>
            <a:r>
              <a:rPr lang="id-ID" sz="3000" dirty="0" smtClean="0"/>
              <a:t>Namun level optimisme pegawai terhadap masa depan perusahaan sangat tinggi (skor 4,4).</a:t>
            </a:r>
            <a:endParaRPr lang="id-ID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378619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2" name="TextBox 1"/>
          <p:cNvSpPr txBox="1"/>
          <p:nvPr/>
        </p:nvSpPr>
        <p:spPr>
          <a:xfrm>
            <a:off x="285720" y="714356"/>
            <a:ext cx="8215370" cy="2657138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108000">
              <a:lnSpc>
                <a:spcPts val="5000"/>
              </a:lnSpc>
            </a:pPr>
            <a:r>
              <a:rPr lang="id-ID" sz="40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Skor </a:t>
            </a:r>
            <a:r>
              <a:rPr lang="id-ID" sz="40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ESS </a:t>
            </a:r>
            <a:r>
              <a:rPr lang="id-ID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Berdasar Variabel Usia, Pangkat, Pendidikan, Lama Bekerja, Direktorat dan Unit Kerja</a:t>
            </a:r>
            <a:endParaRPr lang="af-ZA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785786" y="357166"/>
            <a:ext cx="8358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smtClean="0">
                <a:solidFill>
                  <a:schemeClr val="bg1"/>
                </a:solidFill>
              </a:rPr>
              <a:t>ESS </a:t>
            </a:r>
            <a:r>
              <a:rPr lang="id-ID" sz="3200" b="1" dirty="0" smtClean="0">
                <a:solidFill>
                  <a:schemeClr val="bg1"/>
                </a:solidFill>
              </a:rPr>
              <a:t>Score Berdasar Golongan USIA</a:t>
            </a:r>
            <a:endParaRPr lang="af-ZA" sz="3200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2910" y="1256867"/>
            <a:ext cx="8358246" cy="4067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lnSpc>
                <a:spcPts val="3400"/>
              </a:lnSpc>
              <a:spcBef>
                <a:spcPts val="600"/>
              </a:spcBef>
              <a:spcAft>
                <a:spcPts val="600"/>
              </a:spcAft>
            </a:pPr>
            <a:r>
              <a:rPr lang="id-ID" sz="2800" b="1" dirty="0" smtClean="0">
                <a:solidFill>
                  <a:srgbClr val="002060"/>
                </a:solidFill>
              </a:rPr>
              <a:t>Golongan Usia :</a:t>
            </a:r>
          </a:p>
          <a:p>
            <a:pPr marL="1200150" lvl="1" indent="-742950">
              <a:lnSpc>
                <a:spcPts val="3400"/>
              </a:lnSpc>
              <a:spcBef>
                <a:spcPts val="600"/>
              </a:spcBef>
              <a:spcAft>
                <a:spcPts val="600"/>
              </a:spcAft>
              <a:buAutoNum type="alphaLcParenR"/>
            </a:pPr>
            <a:r>
              <a:rPr lang="id-ID" sz="2800" dirty="0" smtClean="0"/>
              <a:t>&lt; 25 tahun 		= 3,93</a:t>
            </a:r>
          </a:p>
          <a:p>
            <a:pPr marL="1200150" lvl="1" indent="-742950">
              <a:lnSpc>
                <a:spcPts val="3400"/>
              </a:lnSpc>
              <a:spcBef>
                <a:spcPts val="600"/>
              </a:spcBef>
              <a:spcAft>
                <a:spcPts val="600"/>
              </a:spcAft>
              <a:buAutoNum type="alphaLcParenR"/>
            </a:pPr>
            <a:r>
              <a:rPr lang="id-ID" sz="2800" dirty="0" smtClean="0"/>
              <a:t>26 – 35			= 3,91</a:t>
            </a:r>
          </a:p>
          <a:p>
            <a:pPr marL="1200150" lvl="1" indent="-742950">
              <a:lnSpc>
                <a:spcPts val="3400"/>
              </a:lnSpc>
              <a:spcBef>
                <a:spcPts val="600"/>
              </a:spcBef>
              <a:spcAft>
                <a:spcPts val="600"/>
              </a:spcAft>
              <a:buAutoNum type="alphaLcParenR"/>
            </a:pPr>
            <a:r>
              <a:rPr lang="id-ID" sz="2800" dirty="0" smtClean="0"/>
              <a:t>36 – 40			= 4,00</a:t>
            </a:r>
          </a:p>
          <a:p>
            <a:pPr marL="1200150" lvl="1" indent="-742950">
              <a:lnSpc>
                <a:spcPts val="3400"/>
              </a:lnSpc>
              <a:spcBef>
                <a:spcPts val="600"/>
              </a:spcBef>
              <a:spcAft>
                <a:spcPts val="600"/>
              </a:spcAft>
              <a:buAutoNum type="alphaLcParenR"/>
            </a:pPr>
            <a:r>
              <a:rPr lang="id-ID" sz="2800" b="1" dirty="0" smtClean="0">
                <a:solidFill>
                  <a:srgbClr val="0000FF"/>
                </a:solidFill>
              </a:rPr>
              <a:t>41 – 45			= 4,16</a:t>
            </a:r>
          </a:p>
          <a:p>
            <a:pPr marL="1200150" lvl="1" indent="-742950">
              <a:lnSpc>
                <a:spcPts val="3400"/>
              </a:lnSpc>
              <a:spcBef>
                <a:spcPts val="600"/>
              </a:spcBef>
              <a:spcAft>
                <a:spcPts val="600"/>
              </a:spcAft>
              <a:buAutoNum type="alphaLcParenR"/>
            </a:pPr>
            <a:r>
              <a:rPr lang="id-ID" sz="2800" dirty="0" smtClean="0"/>
              <a:t>46 – 50			= 4,00</a:t>
            </a:r>
          </a:p>
          <a:p>
            <a:pPr marL="1200150" lvl="1" indent="-742950">
              <a:lnSpc>
                <a:spcPts val="3400"/>
              </a:lnSpc>
              <a:spcBef>
                <a:spcPts val="600"/>
              </a:spcBef>
              <a:spcAft>
                <a:spcPts val="600"/>
              </a:spcAft>
              <a:buAutoNum type="alphaLcParenR"/>
            </a:pPr>
            <a:r>
              <a:rPr lang="id-ID" sz="2800" dirty="0" smtClean="0"/>
              <a:t>&gt; 50				= 3,94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4348" y="5572140"/>
            <a:ext cx="77153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 smtClean="0"/>
              <a:t>Dari variabel usia, maka pegawai dengan rentang usia 41 – 45 adalah yang memiliki </a:t>
            </a:r>
            <a:r>
              <a:rPr lang="id-ID" sz="2000" smtClean="0"/>
              <a:t>skor </a:t>
            </a:r>
            <a:r>
              <a:rPr lang="id-ID" sz="2000" smtClean="0"/>
              <a:t>ESS </a:t>
            </a:r>
            <a:r>
              <a:rPr lang="id-ID" sz="2000" dirty="0" smtClean="0"/>
              <a:t>tertinggi. Rentang usia 26 – 35 tahun mendapatkan </a:t>
            </a:r>
            <a:r>
              <a:rPr lang="id-ID" sz="2000" smtClean="0"/>
              <a:t>skor </a:t>
            </a:r>
            <a:r>
              <a:rPr lang="id-ID" sz="2000" smtClean="0"/>
              <a:t>ESS </a:t>
            </a:r>
            <a:r>
              <a:rPr lang="id-ID" sz="2000" dirty="0" smtClean="0"/>
              <a:t>paling rendah = 3,91.</a:t>
            </a:r>
            <a:endParaRPr lang="af-ZA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42910" y="1216583"/>
            <a:ext cx="5652509" cy="47602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lnSpc>
                <a:spcPts val="5200"/>
              </a:lnSpc>
            </a:pPr>
            <a:r>
              <a:rPr lang="id-ID" sz="3400" b="1" dirty="0" smtClean="0">
                <a:solidFill>
                  <a:srgbClr val="002060"/>
                </a:solidFill>
              </a:rPr>
              <a:t>Golongan/Pangkat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400" dirty="0" smtClean="0">
                <a:solidFill>
                  <a:srgbClr val="002060"/>
                </a:solidFill>
              </a:rPr>
              <a:t>OS				4,05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400" dirty="0" smtClean="0">
                <a:solidFill>
                  <a:srgbClr val="002060"/>
                </a:solidFill>
              </a:rPr>
              <a:t>PKWT			3,96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400" dirty="0" smtClean="0">
                <a:solidFill>
                  <a:srgbClr val="002060"/>
                </a:solidFill>
              </a:rPr>
              <a:t>Staff			3,86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400" b="1" smtClean="0">
                <a:solidFill>
                  <a:srgbClr val="C00000"/>
                </a:solidFill>
              </a:rPr>
              <a:t>Asmen	</a:t>
            </a:r>
            <a:r>
              <a:rPr lang="id-ID" sz="3400" b="1" dirty="0" smtClean="0">
                <a:solidFill>
                  <a:srgbClr val="C00000"/>
                </a:solidFill>
              </a:rPr>
              <a:t>		3,55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400" dirty="0" smtClean="0">
                <a:solidFill>
                  <a:srgbClr val="002060"/>
                </a:solidFill>
              </a:rPr>
              <a:t>Manajer/Deputi	4,06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400" dirty="0" smtClean="0">
                <a:solidFill>
                  <a:srgbClr val="002060"/>
                </a:solidFill>
              </a:rPr>
              <a:t>Direktur			4,30</a:t>
            </a:r>
            <a:endParaRPr lang="af-ZA" sz="3400" dirty="0">
              <a:solidFill>
                <a:srgbClr val="00206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785786" y="357166"/>
            <a:ext cx="8358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smtClean="0">
                <a:solidFill>
                  <a:schemeClr val="bg1"/>
                </a:solidFill>
              </a:rPr>
              <a:t>ESS </a:t>
            </a:r>
            <a:r>
              <a:rPr lang="id-ID" sz="3200" b="1" dirty="0" smtClean="0">
                <a:solidFill>
                  <a:schemeClr val="bg1"/>
                </a:solidFill>
              </a:rPr>
              <a:t>Score Berdasar Pangkat</a:t>
            </a:r>
            <a:endParaRPr lang="af-ZA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42910" y="1216583"/>
            <a:ext cx="6160661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lnSpc>
                <a:spcPts val="5200"/>
              </a:lnSpc>
            </a:pPr>
            <a:r>
              <a:rPr lang="id-ID" sz="3600" b="1" dirty="0" smtClean="0">
                <a:solidFill>
                  <a:srgbClr val="002060"/>
                </a:solidFill>
              </a:rPr>
              <a:t>Tingkat Pendidikan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/>
              <a:t>&lt; SLTA			= 3,90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/>
              <a:t>SLTA			= 4,10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/>
              <a:t>Diploma		= 4,10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/>
              <a:t>S1				= 3,80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b="1" dirty="0" smtClean="0">
                <a:solidFill>
                  <a:srgbClr val="0000FF"/>
                </a:solidFill>
              </a:rPr>
              <a:t>S2/S3			= 4,30</a:t>
            </a:r>
            <a:endParaRPr lang="af-ZA" sz="3600" b="1" dirty="0">
              <a:solidFill>
                <a:srgbClr val="0000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 flipH="1">
            <a:off x="785786" y="357166"/>
            <a:ext cx="8358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smtClean="0">
                <a:solidFill>
                  <a:schemeClr val="bg1"/>
                </a:solidFill>
              </a:rPr>
              <a:t>ESS </a:t>
            </a:r>
            <a:r>
              <a:rPr lang="id-ID" sz="3200" b="1" dirty="0" smtClean="0">
                <a:solidFill>
                  <a:schemeClr val="bg1"/>
                </a:solidFill>
              </a:rPr>
              <a:t>Score Berdasar PENDIDIKAN</a:t>
            </a:r>
            <a:endParaRPr lang="af-ZA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42910" y="1216583"/>
            <a:ext cx="6647974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lnSpc>
                <a:spcPts val="5200"/>
              </a:lnSpc>
            </a:pPr>
            <a:r>
              <a:rPr lang="id-ID" sz="3600" b="1" dirty="0" smtClean="0">
                <a:solidFill>
                  <a:srgbClr val="002060"/>
                </a:solidFill>
              </a:rPr>
              <a:t>Lama Bekerja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/>
              <a:t>&lt; 4 tahun		= 3,90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/>
              <a:t>4 – 8 tahun		= 4,20	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/>
              <a:t>9 – 15 tahun		=    -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/>
              <a:t>16 – 25 tahun	= 4,20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/>
              <a:t>&gt; 25 tahun		= 3,80</a:t>
            </a:r>
            <a:endParaRPr lang="af-ZA" sz="3600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785786" y="357166"/>
            <a:ext cx="8358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smtClean="0">
                <a:solidFill>
                  <a:schemeClr val="bg1"/>
                </a:solidFill>
              </a:rPr>
              <a:t>ESS </a:t>
            </a:r>
            <a:r>
              <a:rPr lang="id-ID" sz="3200" b="1" dirty="0" smtClean="0">
                <a:solidFill>
                  <a:schemeClr val="bg1"/>
                </a:solidFill>
              </a:rPr>
              <a:t>Score Berdasar LAMA BEKERJA</a:t>
            </a:r>
            <a:endParaRPr lang="af-ZA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71472" y="1260616"/>
            <a:ext cx="7643866" cy="2144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lnSpc>
                <a:spcPts val="4000"/>
              </a:lnSpc>
            </a:pPr>
            <a:r>
              <a:rPr lang="id-ID" sz="2600" b="1" dirty="0" smtClean="0">
                <a:solidFill>
                  <a:srgbClr val="002060"/>
                </a:solidFill>
              </a:rPr>
              <a:t>Direktorat</a:t>
            </a:r>
          </a:p>
          <a:p>
            <a:pPr marL="1200150" lvl="1" indent="-742950">
              <a:lnSpc>
                <a:spcPts val="4000"/>
              </a:lnSpc>
              <a:buAutoNum type="alphaLcParenR"/>
            </a:pPr>
            <a:r>
              <a:rPr lang="id-ID" sz="2600" dirty="0" smtClean="0"/>
              <a:t>Direktorat Operasi		= 4,00</a:t>
            </a:r>
          </a:p>
          <a:p>
            <a:pPr marL="1200150" lvl="1" indent="-742950">
              <a:lnSpc>
                <a:spcPts val="4000"/>
              </a:lnSpc>
              <a:buAutoNum type="alphaLcParenR"/>
            </a:pPr>
            <a:r>
              <a:rPr lang="id-ID" sz="2600" dirty="0" smtClean="0"/>
              <a:t>Direktorat Keuangan dan SDM 	= 3,90</a:t>
            </a:r>
          </a:p>
          <a:p>
            <a:pPr marL="1200150" lvl="1" indent="-742950">
              <a:lnSpc>
                <a:spcPts val="4000"/>
              </a:lnSpc>
              <a:buAutoNum type="alphaLcParenR"/>
            </a:pPr>
            <a:r>
              <a:rPr lang="id-ID" sz="2600" dirty="0" smtClean="0"/>
              <a:t>Sektretaris Perusahaan		= 4,00</a:t>
            </a:r>
          </a:p>
        </p:txBody>
      </p:sp>
      <p:sp>
        <p:nvSpPr>
          <p:cNvPr id="5" name="TextBox 4"/>
          <p:cNvSpPr txBox="1"/>
          <p:nvPr/>
        </p:nvSpPr>
        <p:spPr>
          <a:xfrm flipH="1">
            <a:off x="785786" y="357166"/>
            <a:ext cx="8358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smtClean="0">
                <a:solidFill>
                  <a:schemeClr val="bg1"/>
                </a:solidFill>
              </a:rPr>
              <a:t>ESS </a:t>
            </a:r>
            <a:r>
              <a:rPr lang="id-ID" sz="3200" b="1" dirty="0" smtClean="0">
                <a:solidFill>
                  <a:schemeClr val="bg1"/>
                </a:solidFill>
              </a:rPr>
              <a:t>Score Berdasar DIREKTORAT</a:t>
            </a:r>
            <a:endParaRPr lang="af-ZA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42910" y="1216583"/>
            <a:ext cx="5952270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lnSpc>
                <a:spcPts val="5200"/>
              </a:lnSpc>
            </a:pPr>
            <a:r>
              <a:rPr lang="id-ID" sz="3600" b="1" dirty="0" smtClean="0">
                <a:solidFill>
                  <a:srgbClr val="002060"/>
                </a:solidFill>
              </a:rPr>
              <a:t>Unit Kerja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>
                <a:solidFill>
                  <a:srgbClr val="002060"/>
                </a:solidFill>
              </a:rPr>
              <a:t>Kantor Pusat		= 4,00</a:t>
            </a:r>
          </a:p>
          <a:p>
            <a:pPr marL="1200150" lvl="1" indent="-742950">
              <a:lnSpc>
                <a:spcPts val="5200"/>
              </a:lnSpc>
              <a:buAutoNum type="alphaLcParenR"/>
            </a:pPr>
            <a:r>
              <a:rPr lang="id-ID" sz="3600" dirty="0" smtClean="0">
                <a:solidFill>
                  <a:srgbClr val="002060"/>
                </a:solidFill>
              </a:rPr>
              <a:t>Lapangan/Site	= 4,10</a:t>
            </a:r>
            <a:endParaRPr lang="af-ZA" sz="3600"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 flipH="1">
            <a:off x="785786" y="357166"/>
            <a:ext cx="8358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smtClean="0">
                <a:solidFill>
                  <a:schemeClr val="bg1"/>
                </a:solidFill>
              </a:rPr>
              <a:t>ESS </a:t>
            </a:r>
            <a:r>
              <a:rPr lang="id-ID" sz="3200" b="1" dirty="0" smtClean="0">
                <a:solidFill>
                  <a:schemeClr val="bg1"/>
                </a:solidFill>
              </a:rPr>
              <a:t>Score Berdasar UNIT KERJA</a:t>
            </a:r>
            <a:endParaRPr lang="af-ZA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785786" y="428604"/>
            <a:ext cx="8358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smtClean="0">
                <a:solidFill>
                  <a:schemeClr val="bg1"/>
                </a:solidFill>
              </a:rPr>
              <a:t>ESS </a:t>
            </a:r>
            <a:r>
              <a:rPr lang="id-ID" sz="3200" b="1" dirty="0" smtClean="0">
                <a:solidFill>
                  <a:schemeClr val="bg1"/>
                </a:solidFill>
              </a:rPr>
              <a:t>Score Berdasar Jenis Kelamin</a:t>
            </a:r>
            <a:endParaRPr lang="af-ZA" sz="3200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2910" y="1500174"/>
            <a:ext cx="515557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id-ID" sz="4000" dirty="0" smtClean="0">
                <a:solidFill>
                  <a:srgbClr val="002060"/>
                </a:solidFill>
              </a:rPr>
              <a:t>Lelaki 		= 3,97</a:t>
            </a:r>
          </a:p>
          <a:p>
            <a:pPr marL="742950" indent="-742950"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id-ID" sz="4000" dirty="0" smtClean="0">
                <a:solidFill>
                  <a:srgbClr val="002060"/>
                </a:solidFill>
              </a:rPr>
              <a:t>Perempuan 	= 3,91</a:t>
            </a:r>
            <a:endParaRPr lang="af-ZA" sz="4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378619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2" name="TextBox 1"/>
          <p:cNvSpPr txBox="1"/>
          <p:nvPr/>
        </p:nvSpPr>
        <p:spPr>
          <a:xfrm>
            <a:off x="357158" y="2500306"/>
            <a:ext cx="8215370" cy="762966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108000">
              <a:lnSpc>
                <a:spcPts val="5000"/>
              </a:lnSpc>
            </a:pPr>
            <a:r>
              <a:rPr lang="id-ID" sz="6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Conclusion</a:t>
            </a:r>
            <a:endParaRPr lang="af-ZA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785786" y="357166"/>
            <a:ext cx="83582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000" b="1" dirty="0" smtClean="0">
                <a:solidFill>
                  <a:schemeClr val="bg1"/>
                </a:solidFill>
              </a:rPr>
              <a:t>Conclusion</a:t>
            </a:r>
            <a:endParaRPr lang="af-ZA" sz="40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4348" y="1285860"/>
            <a:ext cx="8001056" cy="2657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00"/>
              </a:lnSpc>
              <a:spcBef>
                <a:spcPts val="1000"/>
              </a:spcBef>
              <a:spcAft>
                <a:spcPts val="1000"/>
              </a:spcAft>
              <a:buFont typeface="Arial" pitchFamily="34" charset="0"/>
              <a:buChar char="•"/>
            </a:pPr>
            <a:r>
              <a:rPr lang="id-ID" sz="2600" dirty="0" smtClean="0"/>
              <a:t>Secara keseluruhan, rata-rata skor </a:t>
            </a:r>
            <a:r>
              <a:rPr lang="id-ID" sz="2600" b="1" smtClean="0"/>
              <a:t>Employee </a:t>
            </a:r>
            <a:r>
              <a:rPr lang="id-ID" sz="2600" b="1" smtClean="0"/>
              <a:t>Satisfaction </a:t>
            </a:r>
            <a:r>
              <a:rPr lang="id-ID" sz="2600" b="1" smtClean="0"/>
              <a:t>Survey </a:t>
            </a:r>
            <a:r>
              <a:rPr lang="id-ID" sz="2600" b="1" smtClean="0"/>
              <a:t>(ESS) </a:t>
            </a:r>
            <a:r>
              <a:rPr lang="id-ID" sz="2600" b="1" dirty="0" smtClean="0"/>
              <a:t>adalah 3,95 </a:t>
            </a:r>
            <a:r>
              <a:rPr lang="id-ID" sz="2600" dirty="0" smtClean="0"/>
              <a:t>(dari skala 1 – 5, dimana 5 = sangat puas dan 1 = sangat tidak puas). </a:t>
            </a:r>
          </a:p>
          <a:p>
            <a:pPr marL="342900" indent="-342900">
              <a:lnSpc>
                <a:spcPts val="3600"/>
              </a:lnSpc>
              <a:spcBef>
                <a:spcPts val="1000"/>
              </a:spcBef>
              <a:spcAft>
                <a:spcPts val="1000"/>
              </a:spcAft>
              <a:buFont typeface="Arial" pitchFamily="34" charset="0"/>
              <a:buChar char="•"/>
            </a:pPr>
            <a:r>
              <a:rPr lang="id-ID" sz="2600" dirty="0" smtClean="0"/>
              <a:t>Angka ini mengindikasikan </a:t>
            </a:r>
            <a:r>
              <a:rPr lang="id-ID" sz="2600" smtClean="0"/>
              <a:t>skore </a:t>
            </a:r>
            <a:r>
              <a:rPr lang="id-ID" sz="2600" smtClean="0"/>
              <a:t>ESS </a:t>
            </a:r>
            <a:r>
              <a:rPr lang="id-ID" sz="2600" dirty="0" smtClean="0"/>
              <a:t>yang relatif tinggi.; sebab angka </a:t>
            </a:r>
            <a:r>
              <a:rPr lang="id-ID" sz="2600" smtClean="0"/>
              <a:t>acuan </a:t>
            </a:r>
            <a:r>
              <a:rPr lang="id-ID" sz="2600" smtClean="0"/>
              <a:t>ESS </a:t>
            </a:r>
            <a:r>
              <a:rPr lang="id-ID" sz="2600" dirty="0" smtClean="0"/>
              <a:t>Score di Indonesia </a:t>
            </a:r>
            <a:r>
              <a:rPr lang="id-ID" sz="2600" b="1" dirty="0" smtClean="0"/>
              <a:t>adalah 3,75. </a:t>
            </a:r>
            <a:endParaRPr lang="af-ZA" sz="2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785786" y="357166"/>
            <a:ext cx="83582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000" b="1" dirty="0" smtClean="0">
                <a:solidFill>
                  <a:schemeClr val="bg1"/>
                </a:solidFill>
              </a:rPr>
              <a:t>Conclusion</a:t>
            </a:r>
            <a:endParaRPr lang="af-ZA" sz="40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4348" y="1357298"/>
            <a:ext cx="807249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id-ID" sz="2600" dirty="0" smtClean="0"/>
              <a:t>Dalam sebagian besar </a:t>
            </a:r>
            <a:r>
              <a:rPr lang="id-ID" sz="2600" smtClean="0"/>
              <a:t>aspek </a:t>
            </a:r>
            <a:r>
              <a:rPr lang="id-ID" sz="2600" smtClean="0"/>
              <a:t>ESS, </a:t>
            </a:r>
            <a:r>
              <a:rPr lang="id-ID" sz="2600" smtClean="0"/>
              <a:t>pegawai PT XYZ </a:t>
            </a:r>
            <a:r>
              <a:rPr lang="id-ID" sz="2600" dirty="0" smtClean="0"/>
              <a:t>memberikan penilaian positif dan mengindikasikan level komitmen kerja yang relatif tinggi.</a:t>
            </a:r>
          </a:p>
          <a:p>
            <a:pPr marL="514350" indent="-514350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id-ID" sz="2600" dirty="0" smtClean="0"/>
              <a:t>Sebagian responden juga memiliki </a:t>
            </a:r>
            <a:r>
              <a:rPr lang="id-ID" sz="2600" smtClean="0"/>
              <a:t>keterikatan </a:t>
            </a:r>
            <a:r>
              <a:rPr lang="id-ID" sz="2600" smtClean="0"/>
              <a:t>(Satisfaction </a:t>
            </a:r>
            <a:r>
              <a:rPr lang="id-ID" sz="2600" dirty="0" smtClean="0"/>
              <a:t>level) yang tinggi dengan pekerjaannya; menganggap pekerjaannya sebagai hal yang menantang dan menarik; serta memiliki level optimisme yang sangat baik terhadap masa depan perusahaan.</a:t>
            </a:r>
            <a:endParaRPr lang="af-ZA" sz="2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785786" y="357166"/>
            <a:ext cx="83582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000" b="1" dirty="0" smtClean="0">
                <a:solidFill>
                  <a:schemeClr val="bg1"/>
                </a:solidFill>
              </a:rPr>
              <a:t>Conclusion</a:t>
            </a:r>
            <a:endParaRPr lang="af-ZA" sz="40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2910" y="1357298"/>
            <a:ext cx="8072494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id-ID" sz="2600" dirty="0" smtClean="0"/>
              <a:t>Pada sisi lain, sebagian besar responden melihat adanya kebutuhan untuk menyempurnaan dalam aspek sistem manajemen karir dan juga proses pengembangan (employee development) yang sistematis.</a:t>
            </a:r>
          </a:p>
          <a:p>
            <a:pPr marL="514350" indent="-514350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id-ID" sz="2600" dirty="0" smtClean="0"/>
              <a:t>Selain itu,  sebagian responden juga menganggap bahwa penerapan tata nilai dan budaya perusahaan masih harus lebih di-optimalkan. </a:t>
            </a:r>
            <a:endParaRPr lang="af-ZA" sz="2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785786" y="357166"/>
            <a:ext cx="83582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000" b="1" dirty="0" smtClean="0">
                <a:solidFill>
                  <a:schemeClr val="bg1"/>
                </a:solidFill>
              </a:rPr>
              <a:t>Conclusion</a:t>
            </a:r>
            <a:endParaRPr lang="af-ZA" sz="40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2910" y="1357298"/>
            <a:ext cx="807249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id-ID" sz="2600" dirty="0" smtClean="0"/>
              <a:t>Dalam </a:t>
            </a:r>
            <a:r>
              <a:rPr lang="id-ID" sz="2600" smtClean="0"/>
              <a:t>skor </a:t>
            </a:r>
            <a:r>
              <a:rPr lang="id-ID" sz="2600" smtClean="0"/>
              <a:t>ESS </a:t>
            </a:r>
            <a:r>
              <a:rPr lang="id-ID" sz="2600" dirty="0" smtClean="0"/>
              <a:t>berdasar pangkat, terlihat bahwa skor untuk para Katimpro menduduki peringkat paling rendah dibanding kategori pegawai lainnya (yakni 3,55 atau relatif jauh dibawah rata-rata </a:t>
            </a:r>
            <a:r>
              <a:rPr lang="id-ID" sz="2600" smtClean="0"/>
              <a:t>skor </a:t>
            </a:r>
            <a:r>
              <a:rPr lang="id-ID" sz="2600" smtClean="0"/>
              <a:t>ESS </a:t>
            </a:r>
            <a:r>
              <a:rPr lang="id-ID" sz="2600" dirty="0" smtClean="0"/>
              <a:t>3,95). </a:t>
            </a:r>
          </a:p>
          <a:p>
            <a:pPr marL="514350" indent="-514350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id-ID" sz="2600" dirty="0" smtClean="0"/>
              <a:t>Fakta ini perlu segera dieksplorasi lebih lanjut, dan diberi respon solusi, mengingat peran penting Katimpro dalam kegiatan operasional perusahaan. </a:t>
            </a:r>
            <a:endParaRPr lang="af-ZA" sz="2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378619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f-ZA"/>
          </a:p>
        </p:txBody>
      </p:sp>
      <p:sp>
        <p:nvSpPr>
          <p:cNvPr id="5" name="TextBox 4"/>
          <p:cNvSpPr txBox="1"/>
          <p:nvPr/>
        </p:nvSpPr>
        <p:spPr>
          <a:xfrm>
            <a:off x="428596" y="1928802"/>
            <a:ext cx="30735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7200" dirty="0" smtClean="0">
                <a:solidFill>
                  <a:schemeClr val="bg1"/>
                </a:solidFill>
              </a:rPr>
              <a:t>SELESAI</a:t>
            </a:r>
            <a:endParaRPr lang="af-ZA" sz="7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1143</Words>
  <Application>Microsoft Office PowerPoint</Application>
  <PresentationFormat>On-screen Show (4:3)</PresentationFormat>
  <Paragraphs>177</Paragraphs>
  <Slides>40</Slides>
  <Notes>40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DELL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OWNER</dc:creator>
  <cp:lastModifiedBy>Yodhia Antariksa</cp:lastModifiedBy>
  <cp:revision>210</cp:revision>
  <dcterms:created xsi:type="dcterms:W3CDTF">2009-07-19T02:14:00Z</dcterms:created>
  <dcterms:modified xsi:type="dcterms:W3CDTF">2014-08-14T07:59:14Z</dcterms:modified>
</cp:coreProperties>
</file>
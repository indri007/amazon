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2" r:id="rId2"/>
    <p:sldId id="264" r:id="rId3"/>
    <p:sldId id="265" r:id="rId4"/>
    <p:sldId id="266" r:id="rId5"/>
    <p:sldId id="263" r:id="rId6"/>
    <p:sldId id="267" r:id="rId7"/>
    <p:sldId id="268" r:id="rId8"/>
    <p:sldId id="270" r:id="rId9"/>
    <p:sldId id="274" r:id="rId10"/>
    <p:sldId id="275" r:id="rId11"/>
    <p:sldId id="269" r:id="rId12"/>
    <p:sldId id="271" r:id="rId13"/>
    <p:sldId id="258" r:id="rId14"/>
    <p:sldId id="276" r:id="rId15"/>
  </p:sldIdLst>
  <p:sldSz cx="9144000" cy="6858000" type="screen4x3"/>
  <p:notesSz cx="6858000" cy="9144000"/>
  <p:defaultTextStyle>
    <a:defPPr>
      <a:defRPr lang="id-ID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60" d="100"/>
          <a:sy n="60" d="100"/>
        </p:scale>
        <p:origin x="-2958" y="-7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C877EAE-096E-4394-BBBB-E50326A7AA54}" type="datetimeFigureOut">
              <a:rPr lang="id-ID"/>
              <a:pPr>
                <a:defRPr/>
              </a:pPr>
              <a:t>14/04/2015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id-ID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id-ID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469672B-5297-4D7D-BFEA-14BBD5CCBEEB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24104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noProof="1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noProof="1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noProof="1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076312-268D-464C-BE05-1B600450353D}" type="datetimeFigureOut">
              <a:rPr lang="id-ID"/>
              <a:pPr>
                <a:defRPr/>
              </a:pPr>
              <a:t>14/04/2015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096DE-40F9-40B6-B0D4-896F00B92401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8091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B3943-3F27-40E1-B7A5-761AB56BA1C7}" type="datetimeFigureOut">
              <a:rPr lang="id-ID"/>
              <a:pPr>
                <a:defRPr/>
              </a:pPr>
              <a:t>14/04/2015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1E830-111D-4A72-9767-2B801AB0C726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36349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9DFB79-A4C9-4820-ABA4-A659977384FF}" type="datetimeFigureOut">
              <a:rPr lang="id-ID"/>
              <a:pPr>
                <a:defRPr/>
              </a:pPr>
              <a:t>14/04/2015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B532A-5554-49DD-BFEE-16EB4C2E128D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24509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22B3C-1DA9-4852-AD46-1F6F81407384}" type="datetimeFigureOut">
              <a:rPr lang="id-ID"/>
              <a:pPr>
                <a:defRPr/>
              </a:pPr>
              <a:t>14/04/2015</a:t>
            </a:fld>
            <a:endParaRPr lang="id-ID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CE569-DC33-4CBB-94A2-0520CAF9D67E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22374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1FEB4-8306-40CB-BC71-432744863C16}" type="datetimeFigureOut">
              <a:rPr lang="id-ID"/>
              <a:pPr>
                <a:defRPr/>
              </a:pPr>
              <a:t>14/04/2015</a:t>
            </a:fld>
            <a:endParaRPr lang="id-ID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0FDC6-2A7E-413A-9B4C-0CCD320A05C1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31057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19472-2101-4E3C-8C59-4A2F5C5D055E}" type="datetimeFigureOut">
              <a:rPr lang="id-ID"/>
              <a:pPr>
                <a:defRPr/>
              </a:pPr>
              <a:t>14/04/2015</a:t>
            </a:fld>
            <a:endParaRPr lang="id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9CF28-C48A-4988-848D-C0152B7FCD5B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54262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0E98D-9AB1-4675-8D01-09126F57CFFE}" type="datetimeFigureOut">
              <a:rPr lang="id-ID"/>
              <a:pPr>
                <a:defRPr/>
              </a:pPr>
              <a:t>14/04/2015</a:t>
            </a:fld>
            <a:endParaRPr lang="id-ID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2E4023-95DC-47A6-B826-E5FE8853EB71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77506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5CF23-9469-4115-8C9F-A8123213046D}" type="datetimeFigureOut">
              <a:rPr lang="id-ID"/>
              <a:pPr>
                <a:defRPr/>
              </a:pPr>
              <a:t>14/04/2015</a:t>
            </a:fld>
            <a:endParaRPr lang="id-ID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6A978-6892-4097-B9F7-C664CB0204FB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3756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d-ID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B11E8-13A5-4C65-B2E2-4A0435C61E60}" type="datetimeFigureOut">
              <a:rPr lang="id-ID"/>
              <a:pPr>
                <a:defRPr/>
              </a:pPr>
              <a:t>14/04/2015</a:t>
            </a:fld>
            <a:endParaRPr lang="id-ID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CE65C-F72D-48D7-8558-4BC6AEE96220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3835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B53D1C-1603-4E45-80A9-94B29C96AE68}" type="datetimeFigureOut">
              <a:rPr lang="id-ID"/>
              <a:pPr>
                <a:defRPr/>
              </a:pPr>
              <a:t>14/04/2015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5C6EE-5FF9-40CF-848B-CF73BE43B205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07712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661FF-9F78-442A-AD44-91085B7DE639}" type="datetimeFigureOut">
              <a:rPr lang="id-ID"/>
              <a:pPr>
                <a:defRPr/>
              </a:pPr>
              <a:t>14/04/2015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3D92E-3296-4401-89E3-5393EFC2C1E3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43844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046800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id-ID" alt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id-ID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3BE5E6A-7D23-4524-B97A-41FCA6ABBEF3}" type="datetimeFigureOut">
              <a:rPr lang="id-ID"/>
              <a:pPr>
                <a:defRPr/>
              </a:pPr>
              <a:t>14/04/2015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18746DB-8AB7-4B5E-AEBE-04B6E3C7CFED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9"/>
          <p:cNvSpPr>
            <a:spLocks noChangeArrowheads="1"/>
          </p:cNvSpPr>
          <p:nvPr/>
        </p:nvSpPr>
        <p:spPr bwMode="auto">
          <a:xfrm>
            <a:off x="71438" y="0"/>
            <a:ext cx="4572000" cy="6072188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sq-AL">
              <a:latin typeface="Calibri" pitchFamily="34" charset="0"/>
              <a:cs typeface="+mn-cs"/>
            </a:endParaRPr>
          </a:p>
        </p:txBody>
      </p:sp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285750" y="214313"/>
            <a:ext cx="4071938" cy="3618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5500"/>
              </a:lnSpc>
              <a:defRPr/>
            </a:pPr>
            <a:r>
              <a:rPr lang="id-ID" sz="4800" b="1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Keterangan Form </a:t>
            </a:r>
            <a:r>
              <a:rPr lang="id-ID" sz="4800" b="1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PerformanceAppraisal Berbasis KPI</a:t>
            </a:r>
            <a:endParaRPr lang="en-US" sz="48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6" name="Picture 2" descr="D:\Project ONLINE\My Pictures\Photos Banyak\7805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0"/>
            <a:ext cx="4427537" cy="607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71438"/>
            <a:ext cx="8215313" cy="857250"/>
          </a:xfrm>
          <a:prstGeom prst="rect">
            <a:avLst/>
          </a:prstGeom>
          <a:solidFill>
            <a:srgbClr val="92D05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1438" y="214313"/>
            <a:ext cx="715168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id-ID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Sample Tabel KPI untuk HR Manager</a:t>
            </a:r>
          </a:p>
        </p:txBody>
      </p:sp>
      <p:pic>
        <p:nvPicPr>
          <p:cNvPr id="512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985838"/>
            <a:ext cx="8704262" cy="5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985838"/>
            <a:ext cx="8704262" cy="5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eft Arrow 6"/>
          <p:cNvSpPr/>
          <p:nvPr/>
        </p:nvSpPr>
        <p:spPr>
          <a:xfrm>
            <a:off x="1714500" y="1000125"/>
            <a:ext cx="4000500" cy="1000125"/>
          </a:xfrm>
          <a:prstGeom prst="leftArrow">
            <a:avLst/>
          </a:prstGeom>
          <a:solidFill>
            <a:srgbClr val="00B0F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d-ID"/>
          </a:p>
        </p:txBody>
      </p:sp>
      <p:sp>
        <p:nvSpPr>
          <p:cNvPr id="6" name="Rectangle 5"/>
          <p:cNvSpPr/>
          <p:nvPr/>
        </p:nvSpPr>
        <p:spPr>
          <a:xfrm>
            <a:off x="0" y="71438"/>
            <a:ext cx="8215313" cy="857250"/>
          </a:xfrm>
          <a:prstGeom prst="rect">
            <a:avLst/>
          </a:prstGeom>
          <a:solidFill>
            <a:srgbClr val="92D05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1438" y="214313"/>
            <a:ext cx="715168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id-ID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Sample Tabel KPI untuk HR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2125" y="1214438"/>
            <a:ext cx="2928938" cy="1477962"/>
          </a:xfrm>
          <a:prstGeom prst="rect">
            <a:avLst/>
          </a:prstGeom>
          <a:solidFill>
            <a:srgbClr val="00B0F0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id-ID" dirty="0"/>
              <a:t>Area kinerja utama adalah bidang tanggung jawab pokok manajer SDM. </a:t>
            </a:r>
          </a:p>
          <a:p>
            <a:pPr>
              <a:defRPr/>
            </a:pPr>
            <a:r>
              <a:rPr lang="id-ID" dirty="0"/>
              <a:t>Dalam contoh ini ada empat area kinerja utama.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985838"/>
            <a:ext cx="8704262" cy="5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eft Arrow 6"/>
          <p:cNvSpPr/>
          <p:nvPr/>
        </p:nvSpPr>
        <p:spPr>
          <a:xfrm>
            <a:off x="4286250" y="1714500"/>
            <a:ext cx="1785938" cy="1000125"/>
          </a:xfrm>
          <a:prstGeom prst="leftArrow">
            <a:avLst/>
          </a:prstGeom>
          <a:solidFill>
            <a:srgbClr val="00B0F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d-ID"/>
          </a:p>
        </p:txBody>
      </p:sp>
      <p:sp>
        <p:nvSpPr>
          <p:cNvPr id="6" name="Rectangle 5"/>
          <p:cNvSpPr/>
          <p:nvPr/>
        </p:nvSpPr>
        <p:spPr>
          <a:xfrm>
            <a:off x="0" y="71438"/>
            <a:ext cx="8215313" cy="857250"/>
          </a:xfrm>
          <a:prstGeom prst="rect">
            <a:avLst/>
          </a:prstGeom>
          <a:solidFill>
            <a:srgbClr val="92D05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1438" y="214313"/>
            <a:ext cx="715168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id-ID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Sample Tabel KPI untuk HR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7875" y="1857375"/>
            <a:ext cx="2928938" cy="3970338"/>
          </a:xfrm>
          <a:prstGeom prst="rect">
            <a:avLst/>
          </a:prstGeom>
          <a:solidFill>
            <a:srgbClr val="00B0F0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marL="342900" indent="-342900">
              <a:buFont typeface="Arial" pitchFamily="34" charset="0"/>
              <a:buChar char="•"/>
              <a:defRPr/>
            </a:pPr>
            <a:r>
              <a:rPr lang="id-ID" dirty="0"/>
              <a:t>Key performance indicators adalah indikator yang terukur untuk menilai hasil kerja. 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id-ID" dirty="0"/>
              <a:t>Masing-masing Area Kinerja Utama (AKU) minimal memiliki satu KPI. Dalam contoh ini, masing-masing AKU memiliki 2 KPI. 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id-ID" dirty="0"/>
              <a:t>Jumlah total KPI sebaiknya berjumlah antara 5 s/d 10 buah.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1438"/>
            <a:ext cx="8215313" cy="857250"/>
          </a:xfrm>
          <a:prstGeom prst="rect">
            <a:avLst/>
          </a:prstGeom>
          <a:solidFill>
            <a:srgbClr val="92D05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819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785813"/>
            <a:ext cx="8704262" cy="593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71438" y="214313"/>
            <a:ext cx="715168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id-ID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Sample Tabel KPI untuk HR Manager</a:t>
            </a:r>
          </a:p>
        </p:txBody>
      </p:sp>
      <p:sp>
        <p:nvSpPr>
          <p:cNvPr id="9" name="Left Arrow 8"/>
          <p:cNvSpPr/>
          <p:nvPr/>
        </p:nvSpPr>
        <p:spPr>
          <a:xfrm>
            <a:off x="5786438" y="1500188"/>
            <a:ext cx="1131887" cy="1000125"/>
          </a:xfrm>
          <a:prstGeom prst="leftArrow">
            <a:avLst/>
          </a:prstGeom>
          <a:solidFill>
            <a:srgbClr val="00B0F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d-ID"/>
          </a:p>
        </p:txBody>
      </p:sp>
      <p:sp>
        <p:nvSpPr>
          <p:cNvPr id="11" name="TextBox 10"/>
          <p:cNvSpPr txBox="1"/>
          <p:nvPr/>
        </p:nvSpPr>
        <p:spPr>
          <a:xfrm>
            <a:off x="6572250" y="1928813"/>
            <a:ext cx="2214563" cy="2586037"/>
          </a:xfrm>
          <a:prstGeom prst="rect">
            <a:avLst/>
          </a:prstGeom>
          <a:solidFill>
            <a:srgbClr val="00B0F0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id-ID" dirty="0"/>
              <a:t>Bobot setiap KPI ditentukan. Bobot ditentukan berdasar tingkat kepentingan (prioritas) KPI dan juga sumber daya yang dialokasikan.</a:t>
            </a:r>
          </a:p>
          <a:p>
            <a:pPr>
              <a:defRPr/>
            </a:pPr>
            <a:r>
              <a:rPr lang="id-ID" dirty="0"/>
              <a:t>Total bobot harus berjumlah 100.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1438"/>
            <a:ext cx="8215313" cy="857250"/>
          </a:xfrm>
          <a:prstGeom prst="rect">
            <a:avLst/>
          </a:prstGeom>
          <a:solidFill>
            <a:srgbClr val="92D05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71438" y="214313"/>
            <a:ext cx="715168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id-ID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Sample Tabel KPI untuk HR Manager</a:t>
            </a:r>
          </a:p>
        </p:txBody>
      </p:sp>
      <p:pic>
        <p:nvPicPr>
          <p:cNvPr id="92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876300"/>
            <a:ext cx="8628062" cy="583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eft Arrow 7"/>
          <p:cNvSpPr/>
          <p:nvPr/>
        </p:nvSpPr>
        <p:spPr>
          <a:xfrm>
            <a:off x="6357938" y="1628775"/>
            <a:ext cx="1131887" cy="1000125"/>
          </a:xfrm>
          <a:prstGeom prst="leftArrow">
            <a:avLst/>
          </a:prstGeom>
          <a:solidFill>
            <a:srgbClr val="00B0F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d-ID"/>
          </a:p>
        </p:txBody>
      </p:sp>
      <p:sp>
        <p:nvSpPr>
          <p:cNvPr id="9" name="TextBox 8"/>
          <p:cNvSpPr txBox="1"/>
          <p:nvPr/>
        </p:nvSpPr>
        <p:spPr>
          <a:xfrm>
            <a:off x="7000875" y="2286000"/>
            <a:ext cx="2000250" cy="3692525"/>
          </a:xfrm>
          <a:prstGeom prst="rect">
            <a:avLst/>
          </a:prstGeom>
          <a:solidFill>
            <a:srgbClr val="00B0F0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id-ID" dirty="0"/>
              <a:t>Target ditentukan berdasar kesepakatan dan juga data pencapaian tahun sebelumnya.</a:t>
            </a:r>
          </a:p>
          <a:p>
            <a:pPr>
              <a:defRPr/>
            </a:pPr>
            <a:r>
              <a:rPr lang="id-ID" dirty="0"/>
              <a:t>Penulisan angka target bisa berupa % atau nominal atau rupiah; tergantung jenis KPI-nya.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1438"/>
            <a:ext cx="8215313" cy="857250"/>
          </a:xfrm>
          <a:prstGeom prst="rect">
            <a:avLst/>
          </a:prstGeom>
          <a:solidFill>
            <a:srgbClr val="92D05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102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785813"/>
            <a:ext cx="8628063" cy="583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71438" y="214313"/>
            <a:ext cx="715168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id-ID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Sample Tabel KPI untuk HR Manager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1438"/>
            <a:ext cx="8215313" cy="857250"/>
          </a:xfrm>
          <a:prstGeom prst="rect">
            <a:avLst/>
          </a:prstGeom>
          <a:solidFill>
            <a:srgbClr val="92D05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785813"/>
            <a:ext cx="8628063" cy="583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ight Arrow 7"/>
          <p:cNvSpPr/>
          <p:nvPr/>
        </p:nvSpPr>
        <p:spPr>
          <a:xfrm>
            <a:off x="4071938" y="2120900"/>
            <a:ext cx="3500437" cy="1143000"/>
          </a:xfrm>
          <a:prstGeom prst="rightArrow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d-ID"/>
          </a:p>
        </p:txBody>
      </p:sp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71438" y="214313"/>
            <a:ext cx="715168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id-ID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Sample Tabel KPI untuk HR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4563" y="2263775"/>
            <a:ext cx="2643187" cy="2308225"/>
          </a:xfrm>
          <a:prstGeom prst="rect">
            <a:avLst/>
          </a:prstGeom>
          <a:solidFill>
            <a:srgbClr val="00B0F0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id-ID" dirty="0"/>
              <a:t>Angka skor didapat dari realisasi/target  x 100 atau juga bisa target/realisasi x 100; tergantung jenis KPI-nya, apakah KPI maximize atau KPI minimize.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1438"/>
            <a:ext cx="8215313" cy="857250"/>
          </a:xfrm>
          <a:prstGeom prst="rect">
            <a:avLst/>
          </a:prstGeom>
          <a:solidFill>
            <a:srgbClr val="92D05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71438" y="214313"/>
            <a:ext cx="715168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id-ID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Sample Tabel KPI untuk HR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560" y="1236864"/>
            <a:ext cx="7766906" cy="47346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id-ID" sz="2400" b="1" smtClean="0">
                <a:solidFill>
                  <a:srgbClr val="0070C0"/>
                </a:solidFill>
              </a:rPr>
              <a:t>KPI Maximize </a:t>
            </a:r>
            <a:r>
              <a:rPr lang="id-ID" sz="2400" smtClean="0"/>
              <a:t>artinya : makin tinggi skor KPI yang didapat, maka makin bagus. </a:t>
            </a:r>
          </a:p>
          <a:p>
            <a:pPr>
              <a:lnSpc>
                <a:spcPts val="29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id-ID" sz="2400" b="1" i="1" smtClean="0"/>
              <a:t>Rumus menghitung skor KPI :</a:t>
            </a:r>
          </a:p>
          <a:p>
            <a:pPr>
              <a:lnSpc>
                <a:spcPts val="29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id-ID" sz="2400" smtClean="0"/>
              <a:t>Target </a:t>
            </a:r>
          </a:p>
          <a:p>
            <a:pPr>
              <a:lnSpc>
                <a:spcPts val="29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id-ID" sz="2400" smtClean="0"/>
              <a:t>-------------------- x 100</a:t>
            </a:r>
          </a:p>
          <a:p>
            <a:pPr>
              <a:lnSpc>
                <a:spcPts val="29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id-ID" sz="2400" smtClean="0"/>
              <a:t>Realisasi</a:t>
            </a:r>
          </a:p>
          <a:p>
            <a:pPr>
              <a:lnSpc>
                <a:spcPts val="29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id-ID" sz="2400" smtClean="0"/>
          </a:p>
          <a:p>
            <a:pPr>
              <a:lnSpc>
                <a:spcPts val="29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id-ID" sz="2400" smtClean="0"/>
              <a:t>*) Dalam contoh tabel KPI tadi, semua KPI bentuknya adalah KPI Maximize, kecuali KPI no 4 yakni Great Employee Turn Over. </a:t>
            </a:r>
          </a:p>
        </p:txBody>
      </p:sp>
    </p:spTree>
    <p:extLst>
      <p:ext uri="{BB962C8B-B14F-4D97-AF65-F5344CB8AC3E}">
        <p14:creationId xmlns:p14="http://schemas.microsoft.com/office/powerpoint/2010/main" val="2859961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1438"/>
            <a:ext cx="8215313" cy="857250"/>
          </a:xfrm>
          <a:prstGeom prst="rect">
            <a:avLst/>
          </a:prstGeom>
          <a:solidFill>
            <a:srgbClr val="92D05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71438" y="214313"/>
            <a:ext cx="715168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id-ID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Sample Tabel KPI untuk HR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560" y="1267772"/>
            <a:ext cx="7766906" cy="47346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id-ID" sz="2400" b="1" smtClean="0">
                <a:solidFill>
                  <a:srgbClr val="FF0000"/>
                </a:solidFill>
              </a:rPr>
              <a:t>KPI MINIMIZE </a:t>
            </a:r>
            <a:r>
              <a:rPr lang="id-ID" sz="2400" smtClean="0"/>
              <a:t>artinya : makin rendah skor KPI yang didapat, maka makin bagus. </a:t>
            </a:r>
          </a:p>
          <a:p>
            <a:pPr>
              <a:lnSpc>
                <a:spcPts val="29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id-ID" sz="2400" b="1" i="1" smtClean="0"/>
              <a:t>Rumus menghitung skor KPI :</a:t>
            </a:r>
          </a:p>
          <a:p>
            <a:pPr>
              <a:lnSpc>
                <a:spcPts val="29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id-ID" sz="2400" smtClean="0"/>
              <a:t>Realisasi</a:t>
            </a:r>
          </a:p>
          <a:p>
            <a:pPr>
              <a:lnSpc>
                <a:spcPts val="29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id-ID" sz="2400" smtClean="0"/>
              <a:t>-------------------- x 100</a:t>
            </a:r>
          </a:p>
          <a:p>
            <a:pPr>
              <a:lnSpc>
                <a:spcPts val="29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id-ID" sz="2400" smtClean="0"/>
              <a:t>Target</a:t>
            </a:r>
          </a:p>
          <a:p>
            <a:pPr>
              <a:lnSpc>
                <a:spcPts val="29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id-ID" sz="2400" smtClean="0"/>
          </a:p>
          <a:p>
            <a:pPr>
              <a:lnSpc>
                <a:spcPts val="29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id-ID" sz="2400" smtClean="0"/>
              <a:t>*) Dalam contoh tabel KPI tadi, hanya ada satu KPI yang bersifat Minimize, yakni KPI no 4 : Great Employee Turn Over. </a:t>
            </a:r>
          </a:p>
        </p:txBody>
      </p:sp>
    </p:spTree>
    <p:extLst>
      <p:ext uri="{BB962C8B-B14F-4D97-AF65-F5344CB8AC3E}">
        <p14:creationId xmlns:p14="http://schemas.microsoft.com/office/powerpoint/2010/main" val="23297659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1438"/>
            <a:ext cx="8215313" cy="857250"/>
          </a:xfrm>
          <a:prstGeom prst="rect">
            <a:avLst/>
          </a:prstGeom>
          <a:solidFill>
            <a:srgbClr val="92D05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642938"/>
            <a:ext cx="8628063" cy="611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71438" y="71438"/>
            <a:ext cx="715168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id-ID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Sample Tabel KPI untuk HR Manager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1438"/>
            <a:ext cx="8215313" cy="857250"/>
          </a:xfrm>
          <a:prstGeom prst="rect">
            <a:avLst/>
          </a:prstGeom>
          <a:solidFill>
            <a:srgbClr val="92D05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133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671513"/>
            <a:ext cx="8628063" cy="611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71438" y="71438"/>
            <a:ext cx="715168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id-ID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Sample Tabel KPI untuk HR Manager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572000" y="1857375"/>
            <a:ext cx="3714750" cy="1143000"/>
          </a:xfrm>
          <a:prstGeom prst="rightArrow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d-ID"/>
          </a:p>
        </p:txBody>
      </p:sp>
      <p:sp>
        <p:nvSpPr>
          <p:cNvPr id="7" name="TextBox 6"/>
          <p:cNvSpPr txBox="1"/>
          <p:nvPr/>
        </p:nvSpPr>
        <p:spPr>
          <a:xfrm>
            <a:off x="1928813" y="1928813"/>
            <a:ext cx="2643187" cy="1200150"/>
          </a:xfrm>
          <a:prstGeom prst="rect">
            <a:avLst/>
          </a:prstGeom>
          <a:solidFill>
            <a:srgbClr val="00B0F0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id-ID" dirty="0"/>
              <a:t>Angka skor akhir didapat dari = skor x bobot KPI /100</a:t>
            </a:r>
          </a:p>
          <a:p>
            <a:pPr>
              <a:defRPr/>
            </a:pPr>
            <a:endParaRPr lang="id-ID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9"/>
          <p:cNvSpPr>
            <a:spLocks noChangeArrowheads="1"/>
          </p:cNvSpPr>
          <p:nvPr/>
        </p:nvSpPr>
        <p:spPr bwMode="auto">
          <a:xfrm>
            <a:off x="0" y="1556792"/>
            <a:ext cx="9144000" cy="3743156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sq-AL" dirty="0">
              <a:latin typeface="Calibri" pitchFamily="34" charset="0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E0422F-363D-46EF-BEE7-2F61858C08A5}" type="slidenum">
              <a:rPr lang="sq-AL"/>
              <a:pPr>
                <a:defRPr/>
              </a:pPr>
              <a:t>13</a:t>
            </a:fld>
            <a:endParaRPr lang="sq-AL" dirty="0"/>
          </a:p>
        </p:txBody>
      </p:sp>
      <p:sp>
        <p:nvSpPr>
          <p:cNvPr id="14340" name="TextBox 5"/>
          <p:cNvSpPr txBox="1">
            <a:spLocks noChangeArrowheads="1"/>
          </p:cNvSpPr>
          <p:nvPr/>
        </p:nvSpPr>
        <p:spPr bwMode="auto">
          <a:xfrm>
            <a:off x="285750" y="2714625"/>
            <a:ext cx="5438378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800100" indent="-34290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id-ID" altLang="en-US" sz="2400" b="1" smtClean="0">
                <a:latin typeface="Arial" charset="0"/>
              </a:rPr>
              <a:t>Yodhia </a:t>
            </a:r>
            <a:r>
              <a:rPr lang="id-ID" altLang="en-US" sz="2400" b="1">
                <a:latin typeface="Arial" charset="0"/>
              </a:rPr>
              <a:t>Antariksa, </a:t>
            </a:r>
            <a:r>
              <a:rPr lang="id-ID" altLang="en-US" sz="1800" b="1">
                <a:latin typeface="Arial" charset="0"/>
              </a:rPr>
              <a:t>Msc in HR Management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id-ID" altLang="en-US" sz="2000" i="1" smtClean="0">
                <a:latin typeface="Arial" charset="0"/>
              </a:rPr>
              <a:t>Master of HR Management, Texas A&amp;M University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id-ID" altLang="en-US" sz="2000" i="1" smtClean="0">
                <a:latin typeface="Arial" charset="0"/>
              </a:rPr>
              <a:t>Blog : www.strategimanajemen.net</a:t>
            </a:r>
            <a:endParaRPr lang="id-ID" altLang="en-US" sz="2000">
              <a:latin typeface="Arial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id-ID" altLang="en-US" sz="2400">
              <a:latin typeface="Arial" charset="0"/>
            </a:endParaRPr>
          </a:p>
        </p:txBody>
      </p:sp>
      <p:sp>
        <p:nvSpPr>
          <p:cNvPr id="14341" name="TextBox 6"/>
          <p:cNvSpPr txBox="1">
            <a:spLocks noChangeArrowheads="1"/>
          </p:cNvSpPr>
          <p:nvPr/>
        </p:nvSpPr>
        <p:spPr bwMode="auto">
          <a:xfrm>
            <a:off x="285749" y="1988840"/>
            <a:ext cx="5643563" cy="445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0"/>
              </a:spcBef>
              <a:buFontTx/>
              <a:buNone/>
            </a:pPr>
            <a:r>
              <a:rPr lang="id-ID" altLang="en-US" sz="2200" b="1" smtClean="0">
                <a:latin typeface="Arial" charset="0"/>
              </a:rPr>
              <a:t>Semua HR Tools ini disusun oleh :</a:t>
            </a:r>
            <a:endParaRPr lang="id-ID" altLang="en-US" sz="2200" b="1">
              <a:latin typeface="Arial" charset="0"/>
            </a:endParaRPr>
          </a:p>
        </p:txBody>
      </p:sp>
      <p:pic>
        <p:nvPicPr>
          <p:cNvPr id="14345" name="Picture 9" descr="D:\Aneka FILES\FOTO\Foto Lebaran 2010\Yodhia Antariksa resize 25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72188" y="1000125"/>
            <a:ext cx="2744787" cy="367188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9"/>
          <p:cNvSpPr>
            <a:spLocks noChangeArrowheads="1"/>
          </p:cNvSpPr>
          <p:nvPr/>
        </p:nvSpPr>
        <p:spPr bwMode="auto">
          <a:xfrm>
            <a:off x="0" y="0"/>
            <a:ext cx="9144000" cy="2643188"/>
          </a:xfrm>
          <a:prstGeom prst="rect">
            <a:avLst/>
          </a:prstGeom>
          <a:solidFill>
            <a:srgbClr val="FFC000"/>
          </a:solidFill>
          <a:ln w="9525">
            <a:solidFill>
              <a:schemeClr val="accent3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sq-AL" dirty="0">
              <a:latin typeface="Calibri" pitchFamily="34" charset="0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A1713-74EE-44EC-9BD6-4FC28803295A}" type="slidenum">
              <a:rPr lang="sq-AL"/>
              <a:pPr>
                <a:defRPr/>
              </a:pPr>
              <a:t>14</a:t>
            </a:fld>
            <a:endParaRPr lang="sq-AL" dirty="0"/>
          </a:p>
        </p:txBody>
      </p:sp>
      <p:sp>
        <p:nvSpPr>
          <p:cNvPr id="11268" name="TextBox 5"/>
          <p:cNvSpPr txBox="1">
            <a:spLocks noChangeArrowheads="1"/>
          </p:cNvSpPr>
          <p:nvPr/>
        </p:nvSpPr>
        <p:spPr bwMode="auto">
          <a:xfrm>
            <a:off x="285750" y="2714625"/>
            <a:ext cx="6357938" cy="3877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id-ID" sz="2000" b="1" i="1" dirty="0"/>
              <a:t>Contact Person :</a:t>
            </a:r>
          </a:p>
          <a:p>
            <a:pPr marL="342900" indent="-342900">
              <a:lnSpc>
                <a:spcPct val="150000"/>
              </a:lnSpc>
            </a:pPr>
            <a:r>
              <a:rPr lang="id-ID" sz="2400" b="1" dirty="0"/>
              <a:t>Yodhia Antariksa, </a:t>
            </a:r>
            <a:r>
              <a:rPr lang="id-ID" b="1" dirty="0"/>
              <a:t>Msc in HR Management</a:t>
            </a:r>
          </a:p>
          <a:p>
            <a:pPr marL="800100" lvl="1" indent="-342900">
              <a:lnSpc>
                <a:spcPct val="150000"/>
              </a:lnSpc>
              <a:buFont typeface="Arial" charset="0"/>
              <a:buChar char="•"/>
            </a:pPr>
            <a:r>
              <a:rPr lang="id-ID" sz="2400" i="1" dirty="0"/>
              <a:t>Managing Director</a:t>
            </a:r>
            <a:endParaRPr lang="id-ID" sz="2400" b="1" dirty="0"/>
          </a:p>
          <a:p>
            <a:pPr marL="800100" lvl="1" indent="-342900">
              <a:lnSpc>
                <a:spcPct val="150000"/>
              </a:lnSpc>
              <a:buFont typeface="Arial" charset="0"/>
              <a:buChar char="•"/>
            </a:pPr>
            <a:r>
              <a:rPr lang="id-ID" sz="2400" dirty="0"/>
              <a:t>Phone : 0817 482 3235</a:t>
            </a:r>
          </a:p>
          <a:p>
            <a:pPr marL="800100" lvl="1" indent="-342900">
              <a:lnSpc>
                <a:spcPct val="150000"/>
              </a:lnSpc>
              <a:buFont typeface="Arial" charset="0"/>
              <a:buChar char="•"/>
            </a:pPr>
            <a:r>
              <a:rPr lang="id-ID" sz="2400" dirty="0"/>
              <a:t>Email </a:t>
            </a:r>
            <a:r>
              <a:rPr lang="id-ID" sz="2400"/>
              <a:t>: </a:t>
            </a:r>
            <a:r>
              <a:rPr lang="id-ID" sz="2400" b="1" smtClean="0">
                <a:solidFill>
                  <a:srgbClr val="990000"/>
                </a:solidFill>
              </a:rPr>
              <a:t>antariksa@exploreHR.org</a:t>
            </a:r>
            <a:endParaRPr lang="id-ID" sz="2400" b="1" dirty="0">
              <a:solidFill>
                <a:srgbClr val="990000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charset="0"/>
              <a:buChar char="•"/>
            </a:pPr>
            <a:r>
              <a:rPr lang="id-ID" sz="2400" dirty="0"/>
              <a:t>Web : </a:t>
            </a:r>
            <a:r>
              <a:rPr lang="id-ID" sz="2400" b="1" dirty="0">
                <a:solidFill>
                  <a:srgbClr val="C00000"/>
                </a:solidFill>
              </a:rPr>
              <a:t>www.manajemenkinerja.com</a:t>
            </a:r>
          </a:p>
          <a:p>
            <a:pPr marL="342900" indent="-342900">
              <a:lnSpc>
                <a:spcPct val="150000"/>
              </a:lnSpc>
            </a:pPr>
            <a:endParaRPr lang="id-ID" sz="2400" dirty="0"/>
          </a:p>
        </p:txBody>
      </p:sp>
      <p:sp>
        <p:nvSpPr>
          <p:cNvPr id="11269" name="TextBox 6"/>
          <p:cNvSpPr txBox="1">
            <a:spLocks noChangeArrowheads="1"/>
          </p:cNvSpPr>
          <p:nvPr/>
        </p:nvSpPr>
        <p:spPr bwMode="auto">
          <a:xfrm>
            <a:off x="285750" y="142875"/>
            <a:ext cx="5643563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000"/>
              </a:lnSpc>
            </a:pPr>
            <a:r>
              <a:rPr lang="id-ID" sz="2200"/>
              <a:t>Jika kantor Anda membutuhkan workshop atau konsultasi pengembangan KPI karyawan, silakan hubungi</a:t>
            </a:r>
            <a:r>
              <a:rPr lang="id-ID" sz="2200">
                <a:solidFill>
                  <a:srgbClr val="C00000"/>
                </a:solidFill>
              </a:rPr>
              <a:t> </a:t>
            </a:r>
            <a:r>
              <a:rPr lang="id-ID" sz="2200" b="1">
                <a:solidFill>
                  <a:srgbClr val="C00000"/>
                </a:solidFill>
              </a:rPr>
              <a:t>PT. Manajemen Kinerja Utama</a:t>
            </a:r>
            <a:r>
              <a:rPr lang="id-ID" sz="2200"/>
              <a:t>, perusahaaan konsultan yang fokus melayani jasa pengembangan KPI dan sistem manajemen kinerja. </a:t>
            </a:r>
          </a:p>
        </p:txBody>
      </p:sp>
      <p:pic>
        <p:nvPicPr>
          <p:cNvPr id="7" name="Picture 9" descr="D:\Aneka FILES\FOTO\Foto Lebaran 2010\Yodhia Antariksa resize 2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72188" y="1000125"/>
            <a:ext cx="2744787" cy="367188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212104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407</Words>
  <Application>Microsoft Office PowerPoint</Application>
  <PresentationFormat>On-screen Show (4:3)</PresentationFormat>
  <Paragraphs>50</Paragraphs>
  <Slides>14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Yodhia Antariksa</cp:lastModifiedBy>
  <cp:revision>33</cp:revision>
  <dcterms:created xsi:type="dcterms:W3CDTF">2010-09-04T06:42:11Z</dcterms:created>
  <dcterms:modified xsi:type="dcterms:W3CDTF">2015-04-14T07:26:40Z</dcterms:modified>
</cp:coreProperties>
</file>
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731" r:id="rId2"/>
    <p:sldId id="1651" r:id="rId3"/>
    <p:sldId id="1653" r:id="rId4"/>
    <p:sldId id="1654" r:id="rId5"/>
    <p:sldId id="1655" r:id="rId6"/>
    <p:sldId id="1656" r:id="rId7"/>
    <p:sldId id="1657" r:id="rId8"/>
    <p:sldId id="1658" r:id="rId9"/>
    <p:sldId id="1732" r:id="rId10"/>
    <p:sldId id="1733" r:id="rId11"/>
    <p:sldId id="1734" r:id="rId12"/>
    <p:sldId id="1735" r:id="rId13"/>
    <p:sldId id="1736" r:id="rId14"/>
    <p:sldId id="1737" r:id="rId15"/>
    <p:sldId id="1738" r:id="rId16"/>
  </p:sldIdLst>
  <p:sldSz cx="9144000" cy="6858000" type="screen4x3"/>
  <p:notesSz cx="67691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CC66"/>
    <a:srgbClr val="99CC00"/>
    <a:srgbClr val="9999FF"/>
    <a:srgbClr val="3333FF"/>
    <a:srgbClr val="003399"/>
    <a:srgbClr val="993366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1" autoAdjust="0"/>
    <p:restoredTop sz="94669" autoAdjust="0"/>
  </p:normalViewPr>
  <p:slideViewPr>
    <p:cSldViewPr>
      <p:cViewPr>
        <p:scale>
          <a:sx n="66" d="100"/>
          <a:sy n="66" d="100"/>
        </p:scale>
        <p:origin x="-2844" y="-6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-1626" y="-72"/>
      </p:cViewPr>
      <p:guideLst>
        <p:guide orient="horz" pos="3120"/>
        <p:guide pos="21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74" tIns="45437" rIns="90874" bIns="45437" numCol="1" anchor="t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5875" y="0"/>
            <a:ext cx="29432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74" tIns="45437" rIns="90874" bIns="4543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81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8638"/>
            <a:ext cx="294322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74" tIns="45437" rIns="90874" bIns="45437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81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5875" y="9418638"/>
            <a:ext cx="294322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874" tIns="45437" rIns="90874" bIns="4543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F2D98BF-5718-4A03-B0DA-D5731C280D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77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00" tIns="46301" rIns="92600" bIns="46301" numCol="1" anchor="t" anchorCtr="0" compatLnSpc="1">
            <a:prstTxWarp prst="textNoShape">
              <a:avLst/>
            </a:prstTxWarp>
          </a:bodyPr>
          <a:lstStyle>
            <a:lvl1pPr defTabSz="9255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5400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00" tIns="46301" rIns="92600" bIns="46301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288" y="4706938"/>
            <a:ext cx="4962525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00" tIns="46301" rIns="92600" bIns="463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00" tIns="46301" rIns="92600" bIns="46301" numCol="1" anchor="b" anchorCtr="0" compatLnSpc="1">
            <a:prstTxWarp prst="textNoShape">
              <a:avLst/>
            </a:prstTxWarp>
          </a:bodyPr>
          <a:lstStyle>
            <a:lvl1pPr defTabSz="9255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5400" y="941070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00" tIns="46301" rIns="92600" bIns="46301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8ED9762-980A-481E-8418-338A254FC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513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122942465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37012991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21530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38125845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2351274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329934447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0844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830966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gsw-FR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6682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12447455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gsw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7726928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gsw-FR"/>
          </a:p>
        </p:txBody>
      </p:sp>
    </p:spTree>
    <p:extLst>
      <p:ext uri="{BB962C8B-B14F-4D97-AF65-F5344CB8AC3E}">
        <p14:creationId xmlns:p14="http://schemas.microsoft.com/office/powerpoint/2010/main" val="1092609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4"/>
          <p:cNvSpPr txBox="1">
            <a:spLocks noChangeArrowheads="1"/>
          </p:cNvSpPr>
          <p:nvPr userDrawn="1"/>
        </p:nvSpPr>
        <p:spPr bwMode="auto">
          <a:xfrm>
            <a:off x="8582025" y="6477000"/>
            <a:ext cx="56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fld id="{1C882461-9F6F-4CC6-8C6B-07195F3452C0}" type="slidenum">
              <a:rPr lang="en-US" altLang="en-US" sz="1600" b="1">
                <a:solidFill>
                  <a:schemeClr val="accent2"/>
                </a:solidFill>
              </a:rPr>
              <a:pPr algn="ctr" eaLnBrk="1" hangingPunct="1"/>
              <a:t>‹#›</a:t>
            </a:fld>
            <a:endParaRPr lang="en-US" altLang="en-US" sz="1600" b="1">
              <a:solidFill>
                <a:schemeClr val="accent2"/>
              </a:solidFill>
            </a:endParaRPr>
          </a:p>
        </p:txBody>
      </p:sp>
      <p:pic>
        <p:nvPicPr>
          <p:cNvPr id="1027" name="Picture 45" descr="print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838200" cy="1066800"/>
          </a:xfrm>
          <a:prstGeom prst="rect">
            <a:avLst/>
          </a:prstGeom>
          <a:noFill/>
          <a:ln w="9525">
            <a:solidFill>
              <a:srgbClr val="99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ectangle 49"/>
          <p:cNvSpPr>
            <a:spLocks noChangeArrowheads="1"/>
          </p:cNvSpPr>
          <p:nvPr userDrawn="1"/>
        </p:nvSpPr>
        <p:spPr bwMode="auto">
          <a:xfrm>
            <a:off x="990600" y="76200"/>
            <a:ext cx="8153400" cy="1066800"/>
          </a:xfrm>
          <a:prstGeom prst="rect">
            <a:avLst/>
          </a:prstGeom>
          <a:solidFill>
            <a:srgbClr val="3333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gsw-F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id-ID" sz="48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Prinsip dalam Competency-based Interview</a:t>
            </a:r>
            <a:endParaRPr lang="en-US" sz="4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46085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1219200" y="50800"/>
            <a:ext cx="6858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Competency Based Interview/</a:t>
            </a:r>
          </a:p>
          <a:p>
            <a:r>
              <a:rPr lang="en-US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Behavioral Event Interview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1219200" y="1447800"/>
            <a:ext cx="77724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/>
              <a:t> Merupakan jenis interview yang terstruktur. Struktur </a:t>
            </a:r>
          </a:p>
          <a:p>
            <a:r>
              <a:rPr lang="en-US" altLang="en-US"/>
              <a:t>  pertanyaan difokuskan pada </a:t>
            </a:r>
            <a:r>
              <a:rPr lang="en-US" altLang="en-US" b="1"/>
              <a:t>pengungkapan contoh-  </a:t>
            </a:r>
          </a:p>
          <a:p>
            <a:r>
              <a:rPr lang="en-US" altLang="en-US" b="1"/>
              <a:t>  contoh perilaku yang ditampilkan pada masa lalu</a:t>
            </a:r>
            <a:r>
              <a:rPr lang="en-US" altLang="en-US"/>
              <a:t>. </a:t>
            </a:r>
          </a:p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 Proses interview ditujukan untuk </a:t>
            </a:r>
            <a:r>
              <a:rPr lang="en-US" altLang="en-US" b="1"/>
              <a:t>mengungkapkan  </a:t>
            </a:r>
          </a:p>
          <a:p>
            <a:r>
              <a:rPr lang="en-US" altLang="en-US" b="1"/>
              <a:t>  secara detil dan spesifik</a:t>
            </a:r>
            <a:r>
              <a:rPr lang="en-US" altLang="en-US"/>
              <a:t> contoh perilaku masa lalu. </a:t>
            </a:r>
          </a:p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 Didesain berdasar pada premis : </a:t>
            </a:r>
            <a:r>
              <a:rPr lang="en-US" altLang="en-US" i="1"/>
              <a:t>past behavior     </a:t>
            </a:r>
          </a:p>
          <a:p>
            <a:r>
              <a:rPr lang="en-US" altLang="en-US" i="1"/>
              <a:t>  predicts future behavior (Candidates are most likely to </a:t>
            </a:r>
          </a:p>
          <a:p>
            <a:r>
              <a:rPr lang="en-US" altLang="en-US" i="1"/>
              <a:t>  repeat these behaviors in similar situations in the </a:t>
            </a:r>
          </a:p>
          <a:p>
            <a:r>
              <a:rPr lang="en-US" altLang="en-US" i="1"/>
              <a:t>  future).</a:t>
            </a:r>
          </a:p>
          <a:p>
            <a:endParaRPr lang="en-US" altLang="en-US" i="1"/>
          </a:p>
          <a:p>
            <a:r>
              <a:rPr lang="en-US" altLang="en-US" i="1"/>
              <a:t> 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51138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</a:rPr>
              <a:t>Pendekatan dalam Behavioral Event Interview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762000" y="1600200"/>
            <a:ext cx="7315200" cy="414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b="1">
                <a:solidFill>
                  <a:schemeClr val="accent2"/>
                </a:solidFill>
              </a:rPr>
              <a:t>S</a:t>
            </a:r>
            <a:r>
              <a:rPr lang="en-US" altLang="en-US"/>
              <a:t> What was the </a:t>
            </a:r>
            <a:r>
              <a:rPr lang="en-US" altLang="en-US" b="1"/>
              <a:t>S</a:t>
            </a:r>
            <a:r>
              <a:rPr lang="en-US" altLang="en-US"/>
              <a:t>ituation in which you were involved?</a:t>
            </a:r>
          </a:p>
          <a:p>
            <a:pPr>
              <a:spcBef>
                <a:spcPct val="50000"/>
              </a:spcBef>
            </a:pPr>
            <a:r>
              <a:rPr lang="en-US" altLang="en-US" sz="4400" b="1">
                <a:solidFill>
                  <a:schemeClr val="accent2"/>
                </a:solidFill>
              </a:rPr>
              <a:t>T</a:t>
            </a:r>
            <a:r>
              <a:rPr lang="en-US" altLang="en-US" sz="4400" b="1"/>
              <a:t> </a:t>
            </a:r>
            <a:r>
              <a:rPr lang="en-US" altLang="en-US"/>
              <a:t>What was the </a:t>
            </a:r>
            <a:r>
              <a:rPr lang="en-US" altLang="en-US" b="1"/>
              <a:t>T</a:t>
            </a:r>
            <a:r>
              <a:rPr lang="en-US" altLang="en-US"/>
              <a:t>ask you needed to accomplish?</a:t>
            </a:r>
          </a:p>
          <a:p>
            <a:pPr>
              <a:spcBef>
                <a:spcPct val="50000"/>
              </a:spcBef>
            </a:pPr>
            <a:r>
              <a:rPr lang="en-US" altLang="en-US" sz="4400">
                <a:solidFill>
                  <a:schemeClr val="accent2"/>
                </a:solidFill>
              </a:rPr>
              <a:t>A</a:t>
            </a:r>
            <a:r>
              <a:rPr lang="en-US" altLang="en-US" sz="4400"/>
              <a:t> </a:t>
            </a:r>
            <a:r>
              <a:rPr lang="en-US" altLang="en-US"/>
              <a:t>What </a:t>
            </a:r>
            <a:r>
              <a:rPr lang="en-US" altLang="en-US" b="1"/>
              <a:t>A</a:t>
            </a:r>
            <a:r>
              <a:rPr lang="en-US" altLang="en-US"/>
              <a:t>ction(s) did you take?</a:t>
            </a:r>
          </a:p>
          <a:p>
            <a:pPr>
              <a:spcBef>
                <a:spcPct val="50000"/>
              </a:spcBef>
            </a:pPr>
            <a:r>
              <a:rPr lang="en-US" altLang="en-US" sz="4400" b="1">
                <a:solidFill>
                  <a:schemeClr val="accent2"/>
                </a:solidFill>
              </a:rPr>
              <a:t>R</a:t>
            </a:r>
            <a:r>
              <a:rPr lang="en-US" altLang="en-US"/>
              <a:t> What </a:t>
            </a:r>
            <a:r>
              <a:rPr lang="en-US" altLang="en-US" b="1"/>
              <a:t>R</a:t>
            </a:r>
            <a:r>
              <a:rPr lang="en-US" altLang="en-US"/>
              <a:t>esults did you achieve?</a:t>
            </a:r>
          </a:p>
        </p:txBody>
      </p:sp>
    </p:spTree>
    <p:extLst>
      <p:ext uri="{BB962C8B-B14F-4D97-AF65-F5344CB8AC3E}">
        <p14:creationId xmlns:p14="http://schemas.microsoft.com/office/powerpoint/2010/main" val="9842870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143000" y="1493043"/>
            <a:ext cx="1804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Situation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1143000" y="2218531"/>
            <a:ext cx="800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/>
              <a:t>Apakah Anda bisa menjelaskan situasinya? </a:t>
            </a:r>
          </a:p>
          <a:p>
            <a:pPr>
              <a:lnSpc>
                <a:spcPct val="120000"/>
              </a:lnSpc>
            </a:pPr>
            <a:r>
              <a:rPr lang="en-US" altLang="en-US"/>
              <a:t>Dimana dan kapan situasi itu terjadi? </a:t>
            </a:r>
          </a:p>
          <a:p>
            <a:pPr>
              <a:lnSpc>
                <a:spcPct val="120000"/>
              </a:lnSpc>
            </a:pPr>
            <a:r>
              <a:rPr lang="en-US" altLang="en-US"/>
              <a:t>Siapa saja yang terlibat didalamnya (rekan kerja, atasan, </a:t>
            </a:r>
          </a:p>
          <a:p>
            <a:pPr>
              <a:lnSpc>
                <a:spcPct val="120000"/>
              </a:lnSpc>
            </a:pPr>
            <a:r>
              <a:rPr lang="en-US" altLang="en-US"/>
              <a:t>pelanggan?)</a:t>
            </a:r>
          </a:p>
          <a:p>
            <a:pPr>
              <a:lnSpc>
                <a:spcPct val="120000"/>
              </a:lnSpc>
            </a:pPr>
            <a:r>
              <a:rPr lang="en-US" altLang="en-US"/>
              <a:t>Hal apa yang melatarbelakangi situasi tersebut?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</a:rPr>
              <a:t>Pendekatan dalam Behavioral Event Interview</a:t>
            </a:r>
          </a:p>
        </p:txBody>
      </p:sp>
    </p:spTree>
    <p:extLst>
      <p:ext uri="{BB962C8B-B14F-4D97-AF65-F5344CB8AC3E}">
        <p14:creationId xmlns:p14="http://schemas.microsoft.com/office/powerpoint/2010/main" val="24274739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174749" y="2133600"/>
            <a:ext cx="720725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/>
              <a:t>Tugas apa yang harus Anda lakukan saat itu? </a:t>
            </a:r>
          </a:p>
          <a:p>
            <a:pPr>
              <a:lnSpc>
                <a:spcPct val="120000"/>
              </a:lnSpc>
            </a:pPr>
            <a:r>
              <a:rPr lang="en-US" altLang="en-US"/>
              <a:t>Apa yang benar-benar Anda lakukan saat itu? </a:t>
            </a:r>
          </a:p>
          <a:p>
            <a:pPr>
              <a:lnSpc>
                <a:spcPct val="120000"/>
              </a:lnSpc>
            </a:pPr>
            <a:r>
              <a:rPr lang="en-US" altLang="en-US"/>
              <a:t>Bagaimana Anda melakukannya?</a:t>
            </a:r>
          </a:p>
          <a:p>
            <a:pPr>
              <a:lnSpc>
                <a:spcPct val="120000"/>
              </a:lnSpc>
            </a:pPr>
            <a:r>
              <a:rPr lang="en-US" altLang="en-US"/>
              <a:t>Langkah-langkah spesifik apa yang Anda lakukan?</a:t>
            </a:r>
          </a:p>
          <a:p>
            <a:pPr>
              <a:lnSpc>
                <a:spcPct val="120000"/>
              </a:lnSpc>
            </a:pPr>
            <a:r>
              <a:rPr lang="en-US" altLang="en-US"/>
              <a:t>Melibatkan siapa saja tindakan yang Anda lakukan?</a:t>
            </a:r>
          </a:p>
          <a:p>
            <a:pPr>
              <a:lnSpc>
                <a:spcPct val="120000"/>
              </a:lnSpc>
            </a:pPr>
            <a:endParaRPr lang="en-US" altLang="en-US"/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1174749" y="1430337"/>
            <a:ext cx="2600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Tasks/Actions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</a:rPr>
              <a:t>Pendekatan dalam Behavioral Event Interview</a:t>
            </a:r>
          </a:p>
        </p:txBody>
      </p:sp>
    </p:spTree>
    <p:extLst>
      <p:ext uri="{BB962C8B-B14F-4D97-AF65-F5344CB8AC3E}">
        <p14:creationId xmlns:p14="http://schemas.microsoft.com/office/powerpoint/2010/main" val="1121624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1203324" y="2133600"/>
            <a:ext cx="731520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/>
              <a:t>Bisakah Anda menceritakan hasil dari tindakan</a:t>
            </a:r>
          </a:p>
          <a:p>
            <a:pPr>
              <a:lnSpc>
                <a:spcPct val="120000"/>
              </a:lnSpc>
            </a:pPr>
            <a:r>
              <a:rPr lang="en-US" altLang="en-US"/>
              <a:t>Anda tersebut?</a:t>
            </a:r>
          </a:p>
          <a:p>
            <a:pPr>
              <a:lnSpc>
                <a:spcPct val="120000"/>
              </a:lnSpc>
            </a:pPr>
            <a:r>
              <a:rPr lang="en-US" altLang="en-US"/>
              <a:t>Akibat spesifik apa yang dihasilkan dari tindakan</a:t>
            </a:r>
          </a:p>
          <a:p>
            <a:pPr>
              <a:lnSpc>
                <a:spcPct val="120000"/>
              </a:lnSpc>
            </a:pPr>
            <a:r>
              <a:rPr lang="en-US" altLang="en-US"/>
              <a:t>Anda?</a:t>
            </a:r>
          </a:p>
          <a:p>
            <a:pPr>
              <a:lnSpc>
                <a:spcPct val="120000"/>
              </a:lnSpc>
            </a:pPr>
            <a:r>
              <a:rPr lang="en-US" altLang="en-US"/>
              <a:t>Apa yang terjadi setelah Anda melakukan tindakan</a:t>
            </a:r>
          </a:p>
          <a:p>
            <a:pPr>
              <a:lnSpc>
                <a:spcPct val="120000"/>
              </a:lnSpc>
            </a:pPr>
            <a:r>
              <a:rPr lang="en-US" altLang="en-US"/>
              <a:t>tersebut?</a:t>
            </a: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1203324" y="1431925"/>
            <a:ext cx="1471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Results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</a:rPr>
              <a:t>Pendekatan dalam Behavioral Event Interview</a:t>
            </a:r>
          </a:p>
        </p:txBody>
      </p:sp>
    </p:spTree>
    <p:extLst>
      <p:ext uri="{BB962C8B-B14F-4D97-AF65-F5344CB8AC3E}">
        <p14:creationId xmlns:p14="http://schemas.microsoft.com/office/powerpoint/2010/main" val="39173983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457200" y="1295400"/>
            <a:ext cx="8416925" cy="478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Kompetensi		Sampel Pertanyaan</a:t>
            </a:r>
          </a:p>
          <a:p>
            <a:endParaRPr lang="en-US" altLang="en-US" b="1"/>
          </a:p>
          <a:p>
            <a:r>
              <a:rPr lang="en-US" altLang="en-US" sz="2000"/>
              <a:t>Persisten 		Dalam proses menjual, kadang-kadang kita tidak</a:t>
            </a:r>
          </a:p>
          <a:p>
            <a:r>
              <a:rPr lang="en-US" altLang="en-US" sz="2000"/>
              <a:t>(Keuletan) 		berhasil dalam memperoleh transaksi baru. </a:t>
            </a:r>
          </a:p>
          <a:p>
            <a:r>
              <a:rPr lang="en-US" altLang="en-US" sz="2000"/>
              <a:t>			Dapatkah Anda menceritakan satu	</a:t>
            </a:r>
          </a:p>
          <a:p>
            <a:r>
              <a:rPr lang="en-US" altLang="en-US" sz="2000"/>
              <a:t>			atau dua situasi dimana Anda berkali-kali gagal</a:t>
            </a:r>
          </a:p>
          <a:p>
            <a:r>
              <a:rPr lang="en-US" altLang="en-US" sz="2000"/>
              <a:t>			mendapatkan klien baru? </a:t>
            </a:r>
          </a:p>
          <a:p>
            <a:r>
              <a:rPr lang="en-US" altLang="en-US" sz="2000"/>
              <a:t>			Bagaimana situasinya? Langkah spesifik</a:t>
            </a:r>
          </a:p>
          <a:p>
            <a:r>
              <a:rPr lang="en-US" altLang="en-US" sz="2000"/>
              <a:t>			apa yang Anda lakukan? Bagaimana hasilnya?</a:t>
            </a:r>
          </a:p>
          <a:p>
            <a:endParaRPr lang="en-US" altLang="en-US" sz="2000"/>
          </a:p>
          <a:p>
            <a:r>
              <a:rPr lang="en-US" altLang="en-US" sz="2000"/>
              <a:t>Influencing Others	Dapatkah Anda menceritakan satu atau dua </a:t>
            </a:r>
          </a:p>
          <a:p>
            <a:r>
              <a:rPr lang="en-US" altLang="en-US" sz="2000"/>
              <a:t>			kasus tentang usaha Anda untuk memperoleh </a:t>
            </a:r>
          </a:p>
          <a:p>
            <a:r>
              <a:rPr lang="en-US" altLang="en-US" sz="2000"/>
              <a:t>			pelanggan baru? Apa yang Anda</a:t>
            </a:r>
          </a:p>
          <a:p>
            <a:r>
              <a:rPr lang="en-US" altLang="en-US" sz="2000"/>
              <a:t>			lakukan? Hasil apa yang Anda peroleh?</a:t>
            </a:r>
          </a:p>
          <a:p>
            <a:endParaRPr lang="en-US" altLang="en-US" sz="20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d-ID" altLang="en-US" sz="2800" b="1" smtClean="0">
                <a:solidFill>
                  <a:schemeClr val="bg1"/>
                </a:solidFill>
              </a:rPr>
              <a:t>Pertanyaan dalam </a:t>
            </a:r>
            <a:r>
              <a:rPr lang="en-US" altLang="en-US" sz="2800" b="1" smtClean="0">
                <a:solidFill>
                  <a:schemeClr val="bg1"/>
                </a:solidFill>
              </a:rPr>
              <a:t>Behavioral </a:t>
            </a:r>
            <a:r>
              <a:rPr lang="en-US" altLang="en-US" sz="2800" b="1">
                <a:solidFill>
                  <a:schemeClr val="bg1"/>
                </a:solidFill>
              </a:rPr>
              <a:t>Event Interview</a:t>
            </a:r>
          </a:p>
        </p:txBody>
      </p:sp>
    </p:spTree>
    <p:extLst>
      <p:ext uri="{BB962C8B-B14F-4D97-AF65-F5344CB8AC3E}">
        <p14:creationId xmlns:p14="http://schemas.microsoft.com/office/powerpoint/2010/main" val="3065006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533400" y="1371600"/>
            <a:ext cx="8301038" cy="478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Kompetensi		Sampel Pertanyaan</a:t>
            </a:r>
          </a:p>
          <a:p>
            <a:endParaRPr lang="en-US" altLang="en-US" b="1"/>
          </a:p>
          <a:p>
            <a:r>
              <a:rPr lang="en-US" altLang="en-US" sz="2000"/>
              <a:t>Interpersonal 		Dapatkah Anda menceritakan satu	</a:t>
            </a:r>
          </a:p>
          <a:p>
            <a:r>
              <a:rPr lang="en-US" altLang="en-US" sz="2000"/>
              <a:t>Understanding		situasi dimana Anda menghadapi klien</a:t>
            </a:r>
          </a:p>
          <a:p>
            <a:r>
              <a:rPr lang="en-US" altLang="en-US" sz="2000"/>
              <a:t>			yang kecewa dengan produk Anda? </a:t>
            </a:r>
          </a:p>
          <a:p>
            <a:r>
              <a:rPr lang="en-US" altLang="en-US" sz="2000"/>
              <a:t>			Bagaimana situasinya? Langkah spesifik</a:t>
            </a:r>
          </a:p>
          <a:p>
            <a:r>
              <a:rPr lang="en-US" altLang="en-US" sz="2000"/>
              <a:t>			apa yang Anda lakukan? Bagaimana hasilnya?</a:t>
            </a:r>
          </a:p>
          <a:p>
            <a:endParaRPr lang="en-US" altLang="en-US" sz="2000"/>
          </a:p>
          <a:p>
            <a:r>
              <a:rPr lang="en-US" altLang="en-US" sz="2000"/>
              <a:t>Planning &amp; 		Dalam bekerja kita sering dihadapkan</a:t>
            </a:r>
          </a:p>
          <a:p>
            <a:r>
              <a:rPr lang="en-US" altLang="en-US" sz="2000"/>
              <a:t>Organizing		pada sejumlah prioritas yang harus dikerjakan</a:t>
            </a:r>
          </a:p>
          <a:p>
            <a:r>
              <a:rPr lang="en-US" altLang="en-US" sz="2000"/>
              <a:t>			bersamaan. Dapatkah Anda menceritakan satu </a:t>
            </a:r>
          </a:p>
          <a:p>
            <a:r>
              <a:rPr lang="en-US" altLang="en-US" sz="2000"/>
              <a:t>			atau dua kasus nyata ketika Anda menghadapi</a:t>
            </a:r>
          </a:p>
          <a:p>
            <a:r>
              <a:rPr lang="en-US" altLang="en-US" sz="2000"/>
              <a:t>			hal serupa? Apa yang Anda lakukan untuk </a:t>
            </a:r>
          </a:p>
          <a:p>
            <a:r>
              <a:rPr lang="en-US" altLang="en-US" sz="2000"/>
              <a:t>			menghadapinya? Apa akibatnya?</a:t>
            </a:r>
          </a:p>
          <a:p>
            <a:endParaRPr lang="en-US" altLang="en-US" sz="20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03324" y="152400"/>
            <a:ext cx="71786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d-ID" altLang="en-US" sz="2800" b="1" smtClean="0">
                <a:solidFill>
                  <a:schemeClr val="bg1"/>
                </a:solidFill>
              </a:rPr>
              <a:t>Pertanyaan dalam </a:t>
            </a:r>
            <a:r>
              <a:rPr lang="en-US" altLang="en-US" sz="2800" b="1" smtClean="0">
                <a:solidFill>
                  <a:schemeClr val="bg1"/>
                </a:solidFill>
              </a:rPr>
              <a:t>Behavioral </a:t>
            </a:r>
            <a:r>
              <a:rPr lang="en-US" altLang="en-US" sz="2800" b="1">
                <a:solidFill>
                  <a:schemeClr val="bg1"/>
                </a:solidFill>
              </a:rPr>
              <a:t>Event Interview</a:t>
            </a:r>
          </a:p>
        </p:txBody>
      </p:sp>
    </p:spTree>
    <p:extLst>
      <p:ext uri="{BB962C8B-B14F-4D97-AF65-F5344CB8AC3E}">
        <p14:creationId xmlns:p14="http://schemas.microsoft.com/office/powerpoint/2010/main" val="32142764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1069975" y="342334"/>
            <a:ext cx="6853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Langkah-langkah dalam Melakukan BEI</a:t>
            </a:r>
          </a:p>
        </p:txBody>
      </p:sp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1069975" y="1295400"/>
            <a:ext cx="7773988" cy="465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en-US" sz="2300">
                <a:latin typeface="Arial" charset="0"/>
              </a:rPr>
              <a:t>Introduksi dan Penjelasan</a:t>
            </a:r>
          </a:p>
          <a:p>
            <a:pPr>
              <a:buFontTx/>
              <a:buAutoNum type="arabicPeriod"/>
            </a:pPr>
            <a:endParaRPr lang="en-US" altLang="en-US" sz="2300">
              <a:latin typeface="Arial" charset="0"/>
            </a:endParaRPr>
          </a:p>
          <a:p>
            <a:pPr>
              <a:buFontTx/>
              <a:buAutoNum type="arabicPeriod"/>
            </a:pPr>
            <a:r>
              <a:rPr lang="en-US" altLang="en-US" sz="2300">
                <a:latin typeface="Arial" charset="0"/>
              </a:rPr>
              <a:t>Proses eksplorasi Behavioral Event Interview</a:t>
            </a:r>
          </a:p>
          <a:p>
            <a:pPr lvl="1">
              <a:buFontTx/>
              <a:buChar char="•"/>
            </a:pPr>
            <a:r>
              <a:rPr lang="en-US" altLang="en-US" sz="2300">
                <a:latin typeface="Arial" charset="0"/>
              </a:rPr>
              <a:t>Mengajukan pertanyaan kepada interviewee untuk</a:t>
            </a:r>
          </a:p>
          <a:p>
            <a:pPr lvl="2"/>
            <a:r>
              <a:rPr lang="en-US" altLang="en-US" sz="2300">
                <a:latin typeface="Arial" charset="0"/>
              </a:rPr>
              <a:t>mengungkapkan sejumlah sampel perilaku yang</a:t>
            </a:r>
          </a:p>
          <a:p>
            <a:pPr lvl="2"/>
            <a:r>
              <a:rPr lang="en-US" altLang="en-US" sz="2300">
                <a:latin typeface="Arial" charset="0"/>
              </a:rPr>
              <a:t>ia lakukan di masa lalu.</a:t>
            </a:r>
          </a:p>
          <a:p>
            <a:pPr lvl="1">
              <a:buFontTx/>
              <a:buChar char="•"/>
            </a:pPr>
            <a:r>
              <a:rPr lang="en-US" altLang="en-US" sz="2300">
                <a:latin typeface="Arial" charset="0"/>
              </a:rPr>
              <a:t>Pertanyaan didasarkan pada indikator perilaku dari </a:t>
            </a:r>
          </a:p>
          <a:p>
            <a:pPr lvl="2"/>
            <a:r>
              <a:rPr lang="en-US" altLang="en-US" sz="2300">
                <a:latin typeface="Arial" charset="0"/>
              </a:rPr>
              <a:t>kompetensi yang diperlukan untuk posisi yang akan</a:t>
            </a:r>
          </a:p>
          <a:p>
            <a:pPr lvl="2"/>
            <a:r>
              <a:rPr lang="en-US" altLang="en-US" sz="2300">
                <a:latin typeface="Arial" charset="0"/>
              </a:rPr>
              <a:t>diisi. </a:t>
            </a:r>
          </a:p>
          <a:p>
            <a:pPr lvl="2"/>
            <a:endParaRPr lang="en-US" altLang="en-US" sz="2300">
              <a:latin typeface="Arial" charset="0"/>
            </a:endParaRPr>
          </a:p>
          <a:p>
            <a:pPr>
              <a:buFontTx/>
              <a:buChar char="•"/>
            </a:pPr>
            <a:r>
              <a:rPr lang="en-US" altLang="en-US" sz="2300">
                <a:latin typeface="Arial" charset="0"/>
              </a:rPr>
              <a:t>Konklusi dan Ringkasan</a:t>
            </a:r>
          </a:p>
          <a:p>
            <a:pPr lvl="1">
              <a:buFontTx/>
              <a:buChar char="•"/>
            </a:pPr>
            <a:endParaRPr lang="en-US" altLang="en-US" sz="2300">
              <a:latin typeface="Arial" charset="0"/>
            </a:endParaRPr>
          </a:p>
          <a:p>
            <a:pPr>
              <a:buFontTx/>
              <a:buAutoNum type="arabicPeriod"/>
            </a:pPr>
            <a:endParaRPr lang="en-US" altLang="en-US" sz="23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563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1143000" y="327820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1143001" y="1447800"/>
            <a:ext cx="73152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300" b="1">
                <a:latin typeface="Arial" charset="0"/>
              </a:rPr>
              <a:t>Apa yang Harus Dilakukan?</a:t>
            </a:r>
          </a:p>
          <a:p>
            <a:endParaRPr lang="en-US" altLang="en-US" sz="2300" b="1">
              <a:latin typeface="Arial" charset="0"/>
            </a:endParaRPr>
          </a:p>
          <a:p>
            <a:pPr>
              <a:buFontTx/>
              <a:buAutoNum type="arabicPeriod"/>
            </a:pPr>
            <a:r>
              <a:rPr lang="en-US" altLang="en-US" sz="2300">
                <a:latin typeface="Arial" charset="0"/>
              </a:rPr>
              <a:t>Memulai dengan suatu event yang positif</a:t>
            </a:r>
          </a:p>
          <a:p>
            <a:endParaRPr lang="en-US" altLang="en-US" sz="2300">
              <a:latin typeface="Arial" charset="0"/>
            </a:endParaRPr>
          </a:p>
          <a:p>
            <a:r>
              <a:rPr lang="en-US" altLang="en-US" sz="2300">
                <a:latin typeface="Arial" charset="0"/>
              </a:rPr>
              <a:t>2.   Berusaha memperoleh alur cerita/sampel secara runtut</a:t>
            </a:r>
          </a:p>
          <a:p>
            <a:pPr lvl="1"/>
            <a:r>
              <a:rPr lang="en-US" altLang="en-US" sz="2300">
                <a:latin typeface="Arial" charset="0"/>
              </a:rPr>
              <a:t>dari awal hingga akhir.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Tuntun interviewee untuk mengungkapkan cerita atau sampel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1800">
                <a:latin typeface="Arial" charset="0"/>
              </a:rPr>
              <a:t>	perilaku secara runtut/sistematis</a:t>
            </a:r>
          </a:p>
          <a:p>
            <a:pPr>
              <a:buFont typeface="Wingdings" pitchFamily="2" charset="2"/>
              <a:buAutoNum type="arabicPeriod" startAt="3"/>
            </a:pPr>
            <a:endParaRPr lang="en-US" altLang="en-US" sz="1800">
              <a:latin typeface="Arial" charset="0"/>
            </a:endParaRPr>
          </a:p>
          <a:p>
            <a:r>
              <a:rPr lang="en-US" altLang="en-US" sz="2300">
                <a:latin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18822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189037" y="1447800"/>
            <a:ext cx="7192963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AutoNum type="arabicPeriod" startAt="3"/>
            </a:pPr>
            <a:r>
              <a:rPr lang="en-US" altLang="en-US" sz="2200">
                <a:latin typeface="Arial" charset="0"/>
              </a:rPr>
              <a:t>Ajukan pertanyaan yang berfokus pada situasi aktual dan nyata. Tuntun interviewee untuk mengungkapkan pengalaman riil di masa lalu; dan bukan pada respon hipotetis atau abstraksi.</a:t>
            </a:r>
          </a:p>
          <a:p>
            <a:pPr lvl="1">
              <a:spcBef>
                <a:spcPct val="50000"/>
              </a:spcBef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Berusaha untuk selalu meminta contoh spesifik; terutama jika muncul jawaban yang ‘tidak jelas’ (sebagai misal, jawaban seperti : “Biasanya, saya....”)</a:t>
            </a:r>
          </a:p>
          <a:p>
            <a:pPr lvl="1">
              <a:spcBef>
                <a:spcPct val="50000"/>
              </a:spcBef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Secara konsisten, meminta dan bertanya fakta spesifik : “Kapan hal itu terjadi?, Siapa saja yang terlibat? Apa yang Anda lakukan? Apa yang kemudian terjadi?”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sz="2200">
                <a:latin typeface="Arial" charset="0"/>
              </a:rPr>
              <a:t>4.   Memberikan apresiasi dan ‘</a:t>
            </a:r>
            <a:r>
              <a:rPr lang="en-US" altLang="en-US" sz="2200" i="1">
                <a:latin typeface="Arial" charset="0"/>
              </a:rPr>
              <a:t>reinforcement</a:t>
            </a:r>
            <a:r>
              <a:rPr lang="en-US" altLang="en-US" sz="2200">
                <a:latin typeface="Arial" charset="0"/>
              </a:rPr>
              <a:t>’ terhadap respon yang detil dan spesifik. 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1189037" y="356849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</p:spTree>
    <p:extLst>
      <p:ext uri="{BB962C8B-B14F-4D97-AF65-F5344CB8AC3E}">
        <p14:creationId xmlns:p14="http://schemas.microsoft.com/office/powerpoint/2010/main" val="13650210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058183" y="338932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069069" y="1447800"/>
            <a:ext cx="7541532" cy="520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300" b="1">
                <a:latin typeface="Arial" charset="0"/>
              </a:rPr>
              <a:t>Apa yang Harus Dihindari?</a:t>
            </a:r>
          </a:p>
          <a:p>
            <a:endParaRPr lang="en-US" altLang="en-US" sz="2300" b="1">
              <a:latin typeface="Arial" charset="0"/>
            </a:endParaRPr>
          </a:p>
          <a:p>
            <a:pPr>
              <a:lnSpc>
                <a:spcPct val="115000"/>
              </a:lnSpc>
              <a:buFontTx/>
              <a:buAutoNum type="arabicPeriod"/>
            </a:pPr>
            <a:r>
              <a:rPr lang="en-US" altLang="en-US" sz="2300">
                <a:latin typeface="Arial" charset="0"/>
              </a:rPr>
              <a:t>Hindari pertanyaan yang menuntun interviewee pada   </a:t>
            </a:r>
          </a:p>
          <a:p>
            <a:pPr>
              <a:lnSpc>
                <a:spcPct val="115000"/>
              </a:lnSpc>
            </a:pPr>
            <a:r>
              <a:rPr lang="en-US" altLang="en-US" sz="2300">
                <a:latin typeface="Arial" charset="0"/>
              </a:rPr>
              <a:t>      jawaban-jawaban yang bersifat abstrak atau analitis/teoritis.</a:t>
            </a:r>
          </a:p>
          <a:p>
            <a:pPr lvl="1">
              <a:lnSpc>
                <a:spcPct val="115000"/>
              </a:lnSpc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Hindari pertanyaan seperti :”Mengapa Anda melakukan hal itu?” atau “Apa yang sebaiknya Anda lakukan?” dan sejenisnya.</a:t>
            </a:r>
          </a:p>
          <a:p>
            <a:pPr lvl="1">
              <a:lnSpc>
                <a:spcPct val="115000"/>
              </a:lnSpc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Hindari juga pertanyaan yang bersifat analitis/teoritis seperti : “Teknik penjualan apa yang biasa Anda ambil?”, atau “Faktor apa yang Anda pertimbangkan dalam melakukan proses penjualan?”. Pertanyaan yang lebih tepat : “Dapatkan Anda menceritakan </a:t>
            </a:r>
            <a:r>
              <a:rPr lang="en-US" altLang="en-US" sz="1800" i="1">
                <a:latin typeface="Arial" charset="0"/>
              </a:rPr>
              <a:t>contoh nyata </a:t>
            </a:r>
            <a:r>
              <a:rPr lang="en-US" altLang="en-US" sz="1800">
                <a:latin typeface="Arial" charset="0"/>
              </a:rPr>
              <a:t>dimana Anda melakukan proses penjualan?”</a:t>
            </a:r>
          </a:p>
          <a:p>
            <a:pPr lvl="1">
              <a:buFont typeface="Wingdings" pitchFamily="2" charset="2"/>
              <a:buNone/>
            </a:pPr>
            <a:endParaRPr lang="en-US" altLang="en-US" sz="1800">
              <a:latin typeface="Arial" charset="0"/>
            </a:endParaRPr>
          </a:p>
          <a:p>
            <a:r>
              <a:rPr lang="en-US" altLang="en-US" sz="2300">
                <a:latin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051536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1066800" y="1701800"/>
            <a:ext cx="769620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en-US" altLang="en-US" sz="2300">
                <a:latin typeface="Arial" charset="0"/>
              </a:rPr>
              <a:t>Hindari ‘leading questions’ (pertanyan yang mengarahkan) atau pertanyaan yang melompat ke konklusi.</a:t>
            </a:r>
          </a:p>
          <a:p>
            <a:endParaRPr lang="en-US" altLang="en-US" sz="2300">
              <a:latin typeface="Arial" charset="0"/>
            </a:endParaRPr>
          </a:p>
          <a:p>
            <a:pPr lvl="1">
              <a:buFontTx/>
              <a:buChar char="•"/>
            </a:pPr>
            <a:r>
              <a:rPr lang="en-US" altLang="en-US" sz="1800">
                <a:latin typeface="Arial" charset="0"/>
              </a:rPr>
              <a:t>Sebagai contoh pertanyaan semacam : “Jadi Anda mencoba untuk mempengaruhinya?”</a:t>
            </a:r>
          </a:p>
          <a:p>
            <a:r>
              <a:rPr lang="en-US" altLang="en-US" sz="2300">
                <a:latin typeface="Arial" charset="0"/>
              </a:rPr>
              <a:t>	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066800" y="338932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</p:spTree>
    <p:extLst>
      <p:ext uri="{BB962C8B-B14F-4D97-AF65-F5344CB8AC3E}">
        <p14:creationId xmlns:p14="http://schemas.microsoft.com/office/powerpoint/2010/main" val="1057147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066800" y="338932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1066800" y="1524000"/>
            <a:ext cx="7620000" cy="313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300" b="1">
                <a:latin typeface="Arial" charset="0"/>
              </a:rPr>
              <a:t>Problem yang Mungkin Muncul dalam Melakukan BEI</a:t>
            </a:r>
          </a:p>
          <a:p>
            <a:r>
              <a:rPr lang="en-US" altLang="en-US" sz="2300" b="1">
                <a:latin typeface="Arial" charset="0"/>
              </a:rPr>
              <a:t>dan Cara Mengelolanya</a:t>
            </a:r>
          </a:p>
          <a:p>
            <a:endParaRPr lang="en-US" altLang="en-US" sz="2300" b="1">
              <a:latin typeface="Arial" charset="0"/>
            </a:endParaRPr>
          </a:p>
          <a:p>
            <a:pPr>
              <a:buFontTx/>
              <a:buAutoNum type="arabicPeriod"/>
            </a:pPr>
            <a:r>
              <a:rPr lang="en-US" altLang="en-US" sz="2300">
                <a:latin typeface="Arial" charset="0"/>
              </a:rPr>
              <a:t>Interviewee tidak dapat mengungkapkan kasus/sampel spesifik seperti yang ditanyakan. 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en-US" altLang="en-US" sz="1800">
                <a:latin typeface="Arial" charset="0"/>
              </a:rPr>
              <a:t>Berikan contoh mengenai kasus/sampel perilaku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en-US" altLang="en-US" sz="1800">
                <a:latin typeface="Arial" charset="0"/>
              </a:rPr>
              <a:t>Beri waktu bagi interviewee untuk berpikir</a:t>
            </a:r>
          </a:p>
          <a:p>
            <a:pPr>
              <a:lnSpc>
                <a:spcPct val="110000"/>
              </a:lnSpc>
            </a:pPr>
            <a:endParaRPr lang="en-US" altLang="en-US" sz="1800" b="1">
              <a:latin typeface="Arial" charset="0"/>
            </a:endParaRPr>
          </a:p>
          <a:p>
            <a:r>
              <a:rPr lang="en-US" altLang="en-US" sz="2300">
                <a:latin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79037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1219200" y="338932"/>
            <a:ext cx="6613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Teknik dan Tips dalam Melakukan BEI</a:t>
            </a: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914400" y="1524000"/>
            <a:ext cx="7924800" cy="3648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300" b="1">
                <a:latin typeface="Arial" charset="0"/>
              </a:rPr>
              <a:t>Problem yang Mungkin Muncul dalam Melakukan BEI</a:t>
            </a:r>
          </a:p>
          <a:p>
            <a:r>
              <a:rPr lang="en-US" altLang="en-US" sz="2300" b="1">
                <a:latin typeface="Arial" charset="0"/>
              </a:rPr>
              <a:t>dan Cara Mengelolanya</a:t>
            </a:r>
          </a:p>
          <a:p>
            <a:pPr>
              <a:lnSpc>
                <a:spcPct val="110000"/>
              </a:lnSpc>
            </a:pPr>
            <a:endParaRPr lang="en-US" altLang="en-US" sz="1800" b="1">
              <a:latin typeface="Arial" charset="0"/>
            </a:endParaRPr>
          </a:p>
          <a:p>
            <a:pPr>
              <a:lnSpc>
                <a:spcPct val="110000"/>
              </a:lnSpc>
              <a:buFontTx/>
              <a:buAutoNum type="arabicPeriod" startAt="2"/>
            </a:pPr>
            <a:r>
              <a:rPr lang="en-US" altLang="en-US" sz="2300">
                <a:latin typeface="Arial" charset="0"/>
              </a:rPr>
              <a:t>Jawaban tidak jelas dan mengambang. </a:t>
            </a:r>
          </a:p>
          <a:p>
            <a:pPr lvl="1">
              <a:lnSpc>
                <a:spcPct val="110000"/>
              </a:lnSpc>
              <a:buFontTx/>
              <a:buChar char="•"/>
            </a:pPr>
            <a:r>
              <a:rPr lang="en-US" altLang="en-US" sz="1800">
                <a:latin typeface="Arial" charset="0"/>
              </a:rPr>
              <a:t>Fokuskan arah interview pada hal-hal yang spesifik dan detil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US" altLang="en-US" sz="1800">
                <a:latin typeface="Arial" charset="0"/>
              </a:rPr>
              <a:t>Sebagai misal, jika  terdapat respon seperti : “Saya merasa harus memberikan respek pada pelanggan saya”, maka harus ditanyakan : “Dapatkah Anda memberikan contoh spesifik mengenai kapan anda melakukan hal itu? Bagaimana Anda melakukannya?”</a:t>
            </a:r>
          </a:p>
          <a:p>
            <a:pPr lvl="1">
              <a:buFont typeface="Wingdings" pitchFamily="2" charset="2"/>
              <a:buChar char="§"/>
            </a:pPr>
            <a:endParaRPr lang="en-US" altLang="en-US" sz="1800">
              <a:latin typeface="Arial" charset="0"/>
            </a:endParaRPr>
          </a:p>
          <a:p>
            <a:r>
              <a:rPr lang="en-US" altLang="en-US" sz="2300">
                <a:latin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236484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50000">
              <a:srgbClr val="FFCCCC"/>
            </a:gs>
            <a:gs pos="100000">
              <a:srgbClr val="FFFFFF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50000">
              <a:srgbClr val="FFCCCC"/>
            </a:gs>
            <a:gs pos="100000">
              <a:srgbClr val="FFFFFF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17283</TotalTime>
  <Words>672</Words>
  <Application>Microsoft Office PowerPoint</Application>
  <PresentationFormat>On-screen Show (4:3)</PresentationFormat>
  <Paragraphs>133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Personal 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MENYAMPAIKAN GAGASAN/IDE</dc:title>
  <dc:creator>Lina Sofiar</dc:creator>
  <cp:lastModifiedBy>Yodhia Antariksa</cp:lastModifiedBy>
  <cp:revision>821</cp:revision>
  <cp:lastPrinted>2003-04-21T09:18:38Z</cp:lastPrinted>
  <dcterms:created xsi:type="dcterms:W3CDTF">2001-06-10T15:04:48Z</dcterms:created>
  <dcterms:modified xsi:type="dcterms:W3CDTF">2014-08-14T08:24:24Z</dcterms:modified>
</cp:coreProperties>
</file>
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5" r:id="rId2"/>
    <p:sldId id="285" r:id="rId3"/>
    <p:sldId id="299" r:id="rId4"/>
    <p:sldId id="297" r:id="rId5"/>
    <p:sldId id="313" r:id="rId6"/>
    <p:sldId id="302" r:id="rId7"/>
    <p:sldId id="303" r:id="rId8"/>
    <p:sldId id="304" r:id="rId9"/>
    <p:sldId id="305" r:id="rId10"/>
    <p:sldId id="306" r:id="rId11"/>
    <p:sldId id="307" r:id="rId12"/>
    <p:sldId id="315" r:id="rId13"/>
    <p:sldId id="316" r:id="rId14"/>
    <p:sldId id="308" r:id="rId15"/>
  </p:sldIdLst>
  <p:sldSz cx="9144000" cy="6858000" type="screen4x3"/>
  <p:notesSz cx="6858000" cy="9144000"/>
  <p:defaultTextStyle>
    <a:defPPr>
      <a:defRPr lang="id-ID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70" d="100"/>
          <a:sy n="70" d="100"/>
        </p:scale>
        <p:origin x="-2712" y="-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8" d="100"/>
        <a:sy n="8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A71798E-5D96-4EF8-A1C2-2EDA6D9262D4}" type="datetimeFigureOut">
              <a:rPr lang="id-ID"/>
              <a:pPr>
                <a:defRPr/>
              </a:pPr>
              <a:t>24/02/2017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id-ID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id-ID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969B729-6E96-4B1F-8E84-C975F3314121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053141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255FD6F-67B4-4B05-8A25-9291E427E085}" type="slidenum">
              <a:rPr lang="en-US" altLang="en-US" smtClean="0"/>
              <a:pPr eaLnBrk="1" hangingPunct="1"/>
              <a:t>1</a:t>
            </a:fld>
            <a:endParaRPr lang="en-US" altLang="en-US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noProof="1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noProof="1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noProof="1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EDE9F-C7A5-4390-8A2A-D0C432272A39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281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38B90-675E-4608-AA24-D485951FC246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1301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E04F0-69AF-48ED-9F57-E8CFB672651E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40575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DD172-F914-4776-9DFB-578FFE53DC8E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8485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5FCD7-AEF2-40E7-9511-E7F8BA123004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1104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2F064-F03A-4C64-A4BA-E97114F72144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3957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BC843-F21A-41E1-A08F-CEEB77D68A79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6700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AE300-8B8E-40CB-95B4-DA4A2472F4D5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6049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d-ID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126C03-3124-46A8-A77D-CEBC7C7DB42F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52818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79AEA-E3CE-42E6-B913-E6ADCD3DDB3D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489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B0BC8-B302-4A1E-A031-71DE7EF75BCE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75666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9153858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id-ID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id-ID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A0223BC-B0D7-4A16-99F0-076C5336AE70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8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>
            <a:spLocks noChangeArrowheads="1"/>
          </p:cNvSpPr>
          <p:nvPr/>
        </p:nvSpPr>
        <p:spPr bwMode="auto">
          <a:xfrm>
            <a:off x="685800" y="1143000"/>
            <a:ext cx="8458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9" name="Rectangle 24"/>
          <p:cNvSpPr>
            <a:spLocks noChangeArrowheads="1"/>
          </p:cNvSpPr>
          <p:nvPr/>
        </p:nvSpPr>
        <p:spPr bwMode="auto">
          <a:xfrm>
            <a:off x="4500563" y="0"/>
            <a:ext cx="4572000" cy="6072188"/>
          </a:xfrm>
          <a:prstGeom prst="rect">
            <a:avLst/>
          </a:prstGeom>
          <a:solidFill>
            <a:srgbClr val="996600"/>
          </a:solidFill>
          <a:ln w="9525">
            <a:solidFill>
              <a:srgbClr val="99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026" name="Picture 2" descr="D:\Project ONLINE\My Pictures\Photos Banyak\7802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4429125" cy="6073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786313" y="214313"/>
            <a:ext cx="4071937" cy="5734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5500"/>
              </a:lnSpc>
              <a:defRPr/>
            </a:pPr>
            <a:r>
              <a:rPr lang="id-ID" sz="4800" b="1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Skor Performance Appraisal dan Kenaikan Gaji + Pembagian Bonus</a:t>
            </a:r>
            <a:endParaRPr lang="en-US" sz="48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8"/>
          <p:cNvSpPr>
            <a:spLocks/>
          </p:cNvSpPr>
          <p:nvPr/>
        </p:nvSpPr>
        <p:spPr bwMode="auto">
          <a:xfrm>
            <a:off x="3648075" y="2333625"/>
            <a:ext cx="1066800" cy="2667000"/>
          </a:xfrm>
          <a:prstGeom prst="rightBrace">
            <a:avLst>
              <a:gd name="adj1" fmla="val 20833"/>
              <a:gd name="adj2" fmla="val 50000"/>
            </a:avLst>
          </a:prstGeom>
          <a:noFill/>
          <a:ln w="57150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ar-DZ" alt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1917955" name="Rectangle 3"/>
          <p:cNvSpPr>
            <a:spLocks noChangeArrowheads="1"/>
          </p:cNvSpPr>
          <p:nvPr/>
        </p:nvSpPr>
        <p:spPr bwMode="auto">
          <a:xfrm>
            <a:off x="428625" y="357188"/>
            <a:ext cx="77438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sq-AL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Dua Komponen </a:t>
            </a:r>
            <a:r>
              <a:rPr lang="id-ID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Kunci </a:t>
            </a:r>
            <a:r>
              <a:rPr lang="sq-AL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Penilaian Kinerja </a:t>
            </a:r>
          </a:p>
        </p:txBody>
      </p:sp>
      <p:sp>
        <p:nvSpPr>
          <p:cNvPr id="80900" name="AutoShape 4"/>
          <p:cNvSpPr>
            <a:spLocks noChangeArrowheads="1"/>
          </p:cNvSpPr>
          <p:nvPr/>
        </p:nvSpPr>
        <p:spPr bwMode="auto">
          <a:xfrm>
            <a:off x="790540" y="1784361"/>
            <a:ext cx="2848004" cy="16002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9525">
            <a:noFill/>
            <a:round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723900" y="1952625"/>
            <a:ext cx="30670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A</a:t>
            </a:r>
            <a:r>
              <a:rPr lang="id-ID" sz="2400" b="1" dirty="0">
                <a:latin typeface="+mj-lt"/>
              </a:rPr>
              <a:t>spek Results </a:t>
            </a:r>
          </a:p>
          <a:p>
            <a:pPr algn="ctr">
              <a:defRPr/>
            </a:pPr>
            <a:r>
              <a:rPr lang="id-ID" sz="2400" b="1" dirty="0">
                <a:latin typeface="+mj-lt"/>
              </a:rPr>
              <a:t>(Key Performance Indicators)</a:t>
            </a:r>
            <a:endParaRPr lang="en-US" sz="2400" b="1" noProof="1">
              <a:latin typeface="+mj-lt"/>
            </a:endParaRPr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785786" y="4046543"/>
            <a:ext cx="2848004" cy="16002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9525">
            <a:noFill/>
            <a:round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19138" y="4214813"/>
            <a:ext cx="30670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A</a:t>
            </a:r>
            <a:r>
              <a:rPr lang="id-ID" sz="2400" b="1" dirty="0">
                <a:latin typeface="+mj-lt"/>
              </a:rPr>
              <a:t>spek Kompetensi</a:t>
            </a:r>
          </a:p>
          <a:p>
            <a:pPr algn="ctr">
              <a:defRPr/>
            </a:pPr>
            <a:r>
              <a:rPr lang="id-ID" sz="2400" b="1" dirty="0">
                <a:latin typeface="+mj-lt"/>
              </a:rPr>
              <a:t>(Kompetensi dan Perilaku)</a:t>
            </a:r>
            <a:endParaRPr lang="en-US" sz="2400" b="1" noProof="1">
              <a:latin typeface="+mj-lt"/>
            </a:endParaRPr>
          </a:p>
        </p:txBody>
      </p:sp>
      <p:sp>
        <p:nvSpPr>
          <p:cNvPr id="16" name="AutoShape 4"/>
          <p:cNvSpPr>
            <a:spLocks noChangeArrowheads="1"/>
          </p:cNvSpPr>
          <p:nvPr/>
        </p:nvSpPr>
        <p:spPr bwMode="auto">
          <a:xfrm>
            <a:off x="5072066" y="2357430"/>
            <a:ext cx="2848004" cy="2786082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>
            <a:noFill/>
            <a:round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933950" y="2882900"/>
            <a:ext cx="306705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id-ID" sz="2400" b="1" noProof="1">
                <a:latin typeface="+mj-lt"/>
              </a:rPr>
              <a:t>Penilaian Kinerja Karyawan (Performance Appraisal)</a:t>
            </a:r>
            <a:endParaRPr lang="en-US" sz="2400" b="1" noProof="1">
              <a:latin typeface="+mj-lt"/>
            </a:endParaRP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CA5B83-0163-4333-87C7-0A36C2EAB82A}" type="slidenum">
              <a:rPr lang="sq-AL" sz="2400" b="1">
                <a:solidFill>
                  <a:srgbClr val="0070C0"/>
                </a:solidFill>
              </a:rPr>
              <a:pPr>
                <a:defRPr/>
              </a:pPr>
              <a:t>2</a:t>
            </a:fld>
            <a:endParaRPr lang="sq-AL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1917955" name="Rectangle 3"/>
          <p:cNvSpPr>
            <a:spLocks noChangeArrowheads="1"/>
          </p:cNvSpPr>
          <p:nvPr/>
        </p:nvSpPr>
        <p:spPr bwMode="auto">
          <a:xfrm>
            <a:off x="428625" y="357188"/>
            <a:ext cx="77438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sq-AL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Dua Komponen </a:t>
            </a:r>
            <a:r>
              <a:rPr lang="id-ID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Kunci </a:t>
            </a:r>
            <a:r>
              <a:rPr lang="sq-AL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Penilaian Kinerja </a:t>
            </a:r>
          </a:p>
        </p:txBody>
      </p:sp>
      <p:sp>
        <p:nvSpPr>
          <p:cNvPr id="80900" name="AutoShape 4"/>
          <p:cNvSpPr>
            <a:spLocks noChangeArrowheads="1"/>
          </p:cNvSpPr>
          <p:nvPr/>
        </p:nvSpPr>
        <p:spPr bwMode="auto">
          <a:xfrm>
            <a:off x="714348" y="1784361"/>
            <a:ext cx="2848004" cy="16002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9525">
            <a:noFill/>
            <a:round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647700" y="1952625"/>
            <a:ext cx="30670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A</a:t>
            </a:r>
            <a:r>
              <a:rPr lang="id-ID" sz="2400" b="1" dirty="0">
                <a:latin typeface="+mj-lt"/>
              </a:rPr>
              <a:t>spek Results </a:t>
            </a:r>
          </a:p>
          <a:p>
            <a:pPr algn="ctr">
              <a:defRPr/>
            </a:pPr>
            <a:r>
              <a:rPr lang="id-ID" sz="2400" b="1" dirty="0">
                <a:latin typeface="+mj-lt"/>
              </a:rPr>
              <a:t>(Key Performance Indicators)</a:t>
            </a:r>
            <a:endParaRPr lang="en-US" sz="2400" b="1" noProof="1">
              <a:latin typeface="+mj-lt"/>
            </a:endParaRPr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709594" y="4245809"/>
            <a:ext cx="2848004" cy="16002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9525">
            <a:noFill/>
            <a:round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642938" y="4414838"/>
            <a:ext cx="306705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A</a:t>
            </a:r>
            <a:r>
              <a:rPr lang="id-ID" sz="2400" b="1" dirty="0">
                <a:latin typeface="+mj-lt"/>
              </a:rPr>
              <a:t>spek Kompetensi</a:t>
            </a:r>
          </a:p>
          <a:p>
            <a:pPr algn="ctr">
              <a:defRPr/>
            </a:pPr>
            <a:r>
              <a:rPr lang="id-ID" sz="2400" b="1" dirty="0">
                <a:latin typeface="+mj-lt"/>
              </a:rPr>
              <a:t>(Kompetensi)</a:t>
            </a:r>
            <a:endParaRPr lang="en-US" sz="2400" b="1" noProof="1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71938" y="1500188"/>
            <a:ext cx="4214812" cy="18716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800"/>
              </a:lnSpc>
              <a:defRPr/>
            </a:pPr>
            <a:r>
              <a:rPr lang="id-ID" sz="2200" dirty="0">
                <a:latin typeface="+mn-lt"/>
              </a:rPr>
              <a:t>Mengambarkan aspek hasil kerja (results) karyawan. Pengukuran hasil kerja dilakukan melalui penyusunan key performance indicators karyawan. </a:t>
            </a:r>
            <a:endParaRPr lang="en-US" sz="22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71938" y="4271963"/>
            <a:ext cx="4214812" cy="18716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800"/>
              </a:lnSpc>
              <a:defRPr/>
            </a:pPr>
            <a:r>
              <a:rPr lang="id-ID" sz="2200" dirty="0">
                <a:latin typeface="+mn-lt"/>
              </a:rPr>
              <a:t>Mengambarkan aspek kompetensi (kecakapan) yang perlu dimiliki oleh karyawan agar mampu menghasilkan kinerja (results) yang optimal. </a:t>
            </a:r>
            <a:endParaRPr lang="en-US" sz="2200" dirty="0">
              <a:latin typeface="+mn-lt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285750" y="3784600"/>
            <a:ext cx="8643938" cy="1588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E731EA-BAAB-4EBA-B321-92734BF95CBC}" type="slidenum">
              <a:rPr lang="sq-AL" sz="2400" b="1">
                <a:solidFill>
                  <a:srgbClr val="0070C0"/>
                </a:solidFill>
              </a:rPr>
              <a:pPr>
                <a:defRPr/>
              </a:pPr>
              <a:t>3</a:t>
            </a:fld>
            <a:endParaRPr lang="sq-AL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ight Arrow 20"/>
          <p:cNvSpPr/>
          <p:nvPr/>
        </p:nvSpPr>
        <p:spPr>
          <a:xfrm>
            <a:off x="2857500" y="1643063"/>
            <a:ext cx="785813" cy="857250"/>
          </a:xfrm>
          <a:prstGeom prst="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107156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 dirty="0"/>
          </a:p>
        </p:txBody>
      </p:sp>
      <p:sp>
        <p:nvSpPr>
          <p:cNvPr id="1600518" name="Rectangle 6"/>
          <p:cNvSpPr>
            <a:spLocks noChangeArrowheads="1"/>
          </p:cNvSpPr>
          <p:nvPr/>
        </p:nvSpPr>
        <p:spPr bwMode="auto">
          <a:xfrm>
            <a:off x="500063" y="285750"/>
            <a:ext cx="8215312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id-ID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Komponen 1 : KPI (Key Performance Indicators)</a:t>
            </a:r>
            <a:endParaRPr lang="en-US" sz="32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3705236" y="4452661"/>
            <a:ext cx="2509838" cy="221599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defRPr/>
            </a:pPr>
            <a:r>
              <a:rPr lang="en-US" sz="2400" b="1">
                <a:latin typeface="+mj-lt"/>
              </a:rPr>
              <a:t>Identifying</a:t>
            </a:r>
          </a:p>
          <a:p>
            <a:pPr algn="ctr">
              <a:lnSpc>
                <a:spcPct val="115000"/>
              </a:lnSpc>
              <a:defRPr/>
            </a:pPr>
            <a:r>
              <a:rPr lang="en-US" sz="2400" b="1">
                <a:latin typeface="+mj-lt"/>
              </a:rPr>
              <a:t>Defining</a:t>
            </a:r>
          </a:p>
          <a:p>
            <a:pPr algn="ctr">
              <a:lnSpc>
                <a:spcPct val="115000"/>
              </a:lnSpc>
              <a:defRPr/>
            </a:pPr>
            <a:r>
              <a:rPr lang="en-US" sz="2400" b="1">
                <a:latin typeface="+mj-lt"/>
              </a:rPr>
              <a:t>Measuring</a:t>
            </a:r>
          </a:p>
          <a:p>
            <a:pPr algn="ctr">
              <a:lnSpc>
                <a:spcPct val="115000"/>
              </a:lnSpc>
              <a:defRPr/>
            </a:pPr>
            <a:r>
              <a:rPr lang="en-US" sz="2400" b="1">
                <a:latin typeface="+mj-lt"/>
              </a:rPr>
              <a:t>Monitoring </a:t>
            </a:r>
          </a:p>
          <a:p>
            <a:pPr algn="ctr">
              <a:lnSpc>
                <a:spcPct val="115000"/>
              </a:lnSpc>
              <a:defRPr/>
            </a:pPr>
            <a:r>
              <a:rPr lang="en-US" sz="2400" b="1">
                <a:latin typeface="+mj-lt"/>
              </a:rPr>
              <a:t>Reporting </a:t>
            </a:r>
          </a:p>
        </p:txBody>
      </p:sp>
      <p:sp>
        <p:nvSpPr>
          <p:cNvPr id="1600520" name="Text Box 8"/>
          <p:cNvSpPr txBox="1">
            <a:spLocks noChangeArrowheads="1"/>
          </p:cNvSpPr>
          <p:nvPr/>
        </p:nvSpPr>
        <p:spPr bwMode="auto">
          <a:xfrm>
            <a:off x="3686180" y="3147729"/>
            <a:ext cx="2528894" cy="1200329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Key Performance Indicators</a:t>
            </a:r>
          </a:p>
          <a:p>
            <a:pPr algn="ctr">
              <a:defRPr/>
            </a:pP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1600524" name="Text Box 12"/>
          <p:cNvSpPr txBox="1">
            <a:spLocks noChangeArrowheads="1"/>
          </p:cNvSpPr>
          <p:nvPr/>
        </p:nvSpPr>
        <p:spPr bwMode="auto">
          <a:xfrm>
            <a:off x="3686179" y="1380827"/>
            <a:ext cx="2457457" cy="1200329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spAutoFit/>
          </a:bodyPr>
          <a:lstStyle/>
          <a:p>
            <a:pPr algn="ctr">
              <a:defRPr/>
            </a:pPr>
            <a:r>
              <a:rPr lang="id-ID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Area Kinerja Utama</a:t>
            </a:r>
          </a:p>
          <a:p>
            <a:pPr algn="ctr">
              <a:defRPr/>
            </a:pP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8206" name="AutoShape 13"/>
          <p:cNvSpPr>
            <a:spLocks noChangeArrowheads="1"/>
          </p:cNvSpPr>
          <p:nvPr/>
        </p:nvSpPr>
        <p:spPr bwMode="auto">
          <a:xfrm>
            <a:off x="4429125" y="2614613"/>
            <a:ext cx="928688" cy="533400"/>
          </a:xfrm>
          <a:prstGeom prst="down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gsw-FR" altLang="en-US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8E4936-A6A9-462F-9663-641C82B5691D}" type="slidenum">
              <a:rPr lang="sq-AL" sz="2400" b="1">
                <a:solidFill>
                  <a:srgbClr val="0070C0"/>
                </a:solidFill>
              </a:rPr>
              <a:pPr>
                <a:defRPr/>
              </a:pPr>
              <a:t>4</a:t>
            </a:fld>
            <a:endParaRPr lang="sq-AL" sz="2400" b="1" dirty="0">
              <a:solidFill>
                <a:srgbClr val="0070C0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1472" y="1357298"/>
            <a:ext cx="2286016" cy="2571768"/>
          </a:xfrm>
          <a:prstGeom prst="round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85813" y="1714500"/>
            <a:ext cx="1857375" cy="1784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id-ID" sz="2200" b="1" dirty="0">
                <a:latin typeface="+mn-lt"/>
              </a:rPr>
              <a:t>Job Description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id-ID" sz="2200" b="1" dirty="0">
                <a:latin typeface="+mn-lt"/>
              </a:rPr>
              <a:t>Work Flow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id-ID" sz="2200" b="1" dirty="0">
                <a:latin typeface="+mn-lt"/>
              </a:rPr>
              <a:t>Expected Results</a:t>
            </a:r>
            <a:endParaRPr lang="en-US" sz="2200" b="1" dirty="0">
              <a:latin typeface="+mn-lt"/>
            </a:endParaRPr>
          </a:p>
        </p:txBody>
      </p:sp>
      <p:sp>
        <p:nvSpPr>
          <p:cNvPr id="22" name="Right Brace 21"/>
          <p:cNvSpPr/>
          <p:nvPr/>
        </p:nvSpPr>
        <p:spPr>
          <a:xfrm>
            <a:off x="6286500" y="3214688"/>
            <a:ext cx="928688" cy="3357562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143750" y="3929063"/>
            <a:ext cx="1643063" cy="2124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id-ID" sz="2200" b="1" dirty="0">
                <a:solidFill>
                  <a:srgbClr val="C00000"/>
                </a:solidFill>
                <a:latin typeface="+mn-lt"/>
              </a:rPr>
              <a:t>Hasil kerja karyawan dapat di-ukur secara lebih obyektif</a:t>
            </a:r>
            <a:endParaRPr lang="en-US" sz="2200" b="1" dirty="0">
              <a:solidFill>
                <a:srgbClr val="C00000"/>
              </a:solidFill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438"/>
            <a:ext cx="8215313" cy="857250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71438" y="214313"/>
            <a:ext cx="71516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Tabel KPI untuk HR Manager</a:t>
            </a:r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876300"/>
            <a:ext cx="8628062" cy="583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42891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8501063" cy="85725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71438" y="71438"/>
            <a:ext cx="871537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id-ID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rPr>
              <a:t>Sample Komponen KPI untuk HR Manager</a:t>
            </a:r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714375"/>
            <a:ext cx="8628063" cy="611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20B19E-0D23-48DB-8F2F-6C3103323D0E}" type="slidenum">
              <a:rPr lang="id-ID" smtClean="0"/>
              <a:pPr>
                <a:defRPr/>
              </a:pPr>
              <a:t>7</a:t>
            </a:fld>
            <a:endParaRPr lang="id-ID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2786063" cy="178593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42875" y="428625"/>
            <a:ext cx="3500438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id-ID" sz="28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K</a:t>
            </a:r>
            <a:r>
              <a:rPr lang="sq-AL" sz="28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omponen</a:t>
            </a:r>
            <a:r>
              <a:rPr lang="id-ID" sz="28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2: </a:t>
            </a:r>
            <a:r>
              <a:rPr lang="sq-AL" sz="28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</a:t>
            </a:r>
            <a:r>
              <a:rPr lang="id-ID" sz="28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KOMPETENSI</a:t>
            </a:r>
            <a:endParaRPr lang="sq-AL" sz="2800" b="1" noProof="1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285750" y="2143125"/>
            <a:ext cx="2214563" cy="409416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id-ID" sz="2000" b="1" i="1" dirty="0">
                <a:latin typeface="+mj-lt"/>
              </a:rPr>
              <a:t>Nilai dengan skala 1 – 5, dimana :</a:t>
            </a:r>
            <a:endParaRPr lang="en-US" sz="2000" b="1" i="1" dirty="0">
              <a:latin typeface="+mj-lt"/>
            </a:endParaRPr>
          </a:p>
          <a:p>
            <a:pPr>
              <a:lnSpc>
                <a:spcPct val="130000"/>
              </a:lnSpc>
              <a:defRPr/>
            </a:pPr>
            <a:r>
              <a:rPr lang="en-US" sz="2000" i="1" dirty="0">
                <a:latin typeface="+mj-lt"/>
              </a:rPr>
              <a:t>5 = Outstanding</a:t>
            </a:r>
          </a:p>
          <a:p>
            <a:pPr>
              <a:lnSpc>
                <a:spcPct val="130000"/>
              </a:lnSpc>
              <a:defRPr/>
            </a:pPr>
            <a:r>
              <a:rPr lang="en-US" sz="2000" i="1" dirty="0">
                <a:latin typeface="+mj-lt"/>
              </a:rPr>
              <a:t>4 = Good performance</a:t>
            </a:r>
          </a:p>
          <a:p>
            <a:pPr>
              <a:lnSpc>
                <a:spcPct val="130000"/>
              </a:lnSpc>
              <a:defRPr/>
            </a:pPr>
            <a:r>
              <a:rPr lang="en-US" sz="2000" i="1" dirty="0">
                <a:latin typeface="+mj-lt"/>
              </a:rPr>
              <a:t>3 = Standard performance</a:t>
            </a:r>
          </a:p>
          <a:p>
            <a:pPr>
              <a:lnSpc>
                <a:spcPct val="130000"/>
              </a:lnSpc>
              <a:defRPr/>
            </a:pPr>
            <a:r>
              <a:rPr lang="en-US" sz="2000" i="1" dirty="0">
                <a:latin typeface="+mj-lt"/>
              </a:rPr>
              <a:t>2 = Need Improvements</a:t>
            </a:r>
          </a:p>
          <a:p>
            <a:pPr>
              <a:lnSpc>
                <a:spcPct val="130000"/>
              </a:lnSpc>
              <a:defRPr/>
            </a:pPr>
            <a:r>
              <a:rPr lang="en-US" sz="2000" i="1" dirty="0">
                <a:latin typeface="+mj-lt"/>
              </a:rPr>
              <a:t>1 = Unacceptable</a:t>
            </a:r>
          </a:p>
        </p:txBody>
      </p:sp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0"/>
            <a:ext cx="6126162" cy="673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660FBE-6B84-436F-B308-CD865C9CB8BA}" type="slidenum">
              <a:rPr lang="id-ID" smtClean="0"/>
              <a:pPr>
                <a:defRPr/>
              </a:pPr>
              <a:t>8</a:t>
            </a:fld>
            <a:endParaRPr lang="id-ID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2786063" cy="178593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42875" y="428625"/>
            <a:ext cx="3500438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id-ID" sz="28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K</a:t>
            </a:r>
            <a:r>
              <a:rPr lang="sq-AL" sz="28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omponen</a:t>
            </a:r>
            <a:r>
              <a:rPr lang="id-ID" sz="28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2: </a:t>
            </a:r>
            <a:r>
              <a:rPr lang="sq-AL" sz="28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</a:t>
            </a:r>
            <a:r>
              <a:rPr lang="id-ID" sz="28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KOMPETENSI</a:t>
            </a:r>
            <a:endParaRPr lang="sq-AL" sz="2800" b="1" noProof="1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  <p:pic>
        <p:nvPicPr>
          <p:cNvPr id="1229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5" y="0"/>
            <a:ext cx="5599113" cy="671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14313" y="4500563"/>
            <a:ext cx="2928937" cy="1938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lang="id-ID" sz="2000" i="1" dirty="0">
                <a:latin typeface="+mn-lt"/>
              </a:rPr>
              <a:t>Angka 72 didapat dari total skor = 18 / 5 (jumlah kompetensi) x 20. </a:t>
            </a:r>
          </a:p>
          <a:p>
            <a:pPr>
              <a:lnSpc>
                <a:spcPts val="2400"/>
              </a:lnSpc>
              <a:defRPr/>
            </a:pPr>
            <a:r>
              <a:rPr lang="id-ID" sz="2000" i="1" dirty="0">
                <a:latin typeface="+mn-lt"/>
              </a:rPr>
              <a:t>Dikalikan 20, supaya hasil nilai sebanding dengan skala nilai KPI (maks 100)</a:t>
            </a:r>
            <a:endParaRPr lang="en-US" sz="2000" i="1" dirty="0">
              <a:latin typeface="+mn-lt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000375" y="6072188"/>
            <a:ext cx="4357688" cy="500062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8"/>
          <p:cNvSpPr>
            <a:spLocks/>
          </p:cNvSpPr>
          <p:nvPr/>
        </p:nvSpPr>
        <p:spPr bwMode="auto">
          <a:xfrm>
            <a:off x="3648075" y="2333625"/>
            <a:ext cx="1066800" cy="2667000"/>
          </a:xfrm>
          <a:prstGeom prst="rightBrace">
            <a:avLst>
              <a:gd name="adj1" fmla="val 20833"/>
              <a:gd name="adj2" fmla="val 50000"/>
            </a:avLst>
          </a:prstGeom>
          <a:noFill/>
          <a:ln w="57150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ar-DZ" alt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1917955" name="Rectangle 3"/>
          <p:cNvSpPr>
            <a:spLocks noChangeArrowheads="1"/>
          </p:cNvSpPr>
          <p:nvPr/>
        </p:nvSpPr>
        <p:spPr bwMode="auto">
          <a:xfrm>
            <a:off x="428625" y="357188"/>
            <a:ext cx="77438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sq-AL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Dua Komponen </a:t>
            </a:r>
            <a:r>
              <a:rPr lang="id-ID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Kunci </a:t>
            </a:r>
            <a:r>
              <a:rPr lang="sq-AL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Penilaian Kinerja </a:t>
            </a:r>
          </a:p>
        </p:txBody>
      </p:sp>
      <p:sp>
        <p:nvSpPr>
          <p:cNvPr id="80900" name="AutoShape 4"/>
          <p:cNvSpPr>
            <a:spLocks noChangeArrowheads="1"/>
          </p:cNvSpPr>
          <p:nvPr/>
        </p:nvSpPr>
        <p:spPr bwMode="auto">
          <a:xfrm>
            <a:off x="790540" y="1784360"/>
            <a:ext cx="2848004" cy="1787515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9525">
            <a:noFill/>
            <a:round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642938" y="1857375"/>
            <a:ext cx="306705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A</a:t>
            </a:r>
            <a:r>
              <a:rPr lang="id-ID" sz="2400" b="1" dirty="0">
                <a:latin typeface="+mj-lt"/>
              </a:rPr>
              <a:t>spek Results </a:t>
            </a:r>
          </a:p>
          <a:p>
            <a:pPr algn="ctr">
              <a:defRPr/>
            </a:pPr>
            <a:r>
              <a:rPr lang="id-ID" sz="2400" b="1" dirty="0">
                <a:latin typeface="+mj-lt"/>
              </a:rPr>
              <a:t>(Key Performance Indicators) </a:t>
            </a:r>
          </a:p>
          <a:p>
            <a:pPr algn="ctr">
              <a:defRPr/>
            </a:pPr>
            <a:r>
              <a:rPr lang="id-ID" sz="2400" b="1" dirty="0">
                <a:solidFill>
                  <a:srgbClr val="C00000"/>
                </a:solidFill>
                <a:latin typeface="+mj-lt"/>
              </a:rPr>
              <a:t>Bobot : 60%</a:t>
            </a:r>
            <a:endParaRPr lang="en-US" sz="2400" b="1" noProof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785786" y="4046542"/>
            <a:ext cx="2848004" cy="1954225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9525">
            <a:noFill/>
            <a:round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19138" y="4214813"/>
            <a:ext cx="3067050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A</a:t>
            </a:r>
            <a:r>
              <a:rPr lang="id-ID" sz="2400" b="1" dirty="0">
                <a:latin typeface="+mj-lt"/>
              </a:rPr>
              <a:t>spek Kompetensi</a:t>
            </a:r>
          </a:p>
          <a:p>
            <a:pPr algn="ctr">
              <a:defRPr/>
            </a:pPr>
            <a:r>
              <a:rPr lang="id-ID" sz="2400" b="1" dirty="0">
                <a:latin typeface="+mj-lt"/>
              </a:rPr>
              <a:t>(Kompetensi dan Perilaku)</a:t>
            </a:r>
          </a:p>
          <a:p>
            <a:pPr algn="ctr">
              <a:defRPr/>
            </a:pPr>
            <a:r>
              <a:rPr lang="id-ID" sz="2400" b="1" noProof="1">
                <a:solidFill>
                  <a:srgbClr val="C00000"/>
                </a:solidFill>
                <a:latin typeface="+mj-lt"/>
              </a:rPr>
              <a:t>Bobot : 40 %</a:t>
            </a:r>
            <a:endParaRPr lang="en-US" sz="2400" b="1" noProof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" name="AutoShape 4"/>
          <p:cNvSpPr>
            <a:spLocks noChangeArrowheads="1"/>
          </p:cNvSpPr>
          <p:nvPr/>
        </p:nvSpPr>
        <p:spPr bwMode="auto">
          <a:xfrm>
            <a:off x="5072066" y="2357430"/>
            <a:ext cx="2848004" cy="2786082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>
            <a:noFill/>
            <a:round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929188" y="2786063"/>
            <a:ext cx="3067050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id-ID" sz="2400" b="1" noProof="1">
                <a:solidFill>
                  <a:srgbClr val="C00000"/>
                </a:solidFill>
                <a:latin typeface="+mj-lt"/>
              </a:rPr>
              <a:t>Skor Total </a:t>
            </a:r>
          </a:p>
          <a:p>
            <a:pPr algn="ctr">
              <a:defRPr/>
            </a:pPr>
            <a:r>
              <a:rPr lang="id-ID" sz="2400" b="1" noProof="1">
                <a:latin typeface="+mj-lt"/>
              </a:rPr>
              <a:t>Penilaian Kinerja Karyawan (Performance Appraisal)</a:t>
            </a:r>
            <a:endParaRPr lang="en-US" sz="2400" b="1" noProof="1">
              <a:latin typeface="+mj-lt"/>
            </a:endParaRP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D6B5F3-B7A6-4EC2-9A7A-997330BF65C5}" type="slidenum">
              <a:rPr lang="sq-AL" sz="2400" b="1">
                <a:solidFill>
                  <a:srgbClr val="0070C0"/>
                </a:solidFill>
              </a:rPr>
              <a:pPr>
                <a:defRPr/>
              </a:pPr>
              <a:t>9</a:t>
            </a:fld>
            <a:endParaRPr lang="sq-AL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8"/>
          <p:cNvSpPr>
            <a:spLocks/>
          </p:cNvSpPr>
          <p:nvPr/>
        </p:nvSpPr>
        <p:spPr bwMode="auto">
          <a:xfrm>
            <a:off x="3648075" y="2333625"/>
            <a:ext cx="1066800" cy="2667000"/>
          </a:xfrm>
          <a:prstGeom prst="rightBrace">
            <a:avLst>
              <a:gd name="adj1" fmla="val 20833"/>
              <a:gd name="adj2" fmla="val 50000"/>
            </a:avLst>
          </a:prstGeom>
          <a:noFill/>
          <a:ln w="57150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ar-DZ" alt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1917955" name="Rectangle 3"/>
          <p:cNvSpPr>
            <a:spLocks noChangeArrowheads="1"/>
          </p:cNvSpPr>
          <p:nvPr/>
        </p:nvSpPr>
        <p:spPr bwMode="auto">
          <a:xfrm>
            <a:off x="428625" y="357188"/>
            <a:ext cx="77438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sq-AL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Dua Komponen </a:t>
            </a:r>
            <a:r>
              <a:rPr lang="id-ID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Kunci </a:t>
            </a:r>
            <a:r>
              <a:rPr lang="sq-AL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Penilaian Kinerja </a:t>
            </a:r>
          </a:p>
        </p:txBody>
      </p:sp>
      <p:sp>
        <p:nvSpPr>
          <p:cNvPr id="80900" name="AutoShape 4"/>
          <p:cNvSpPr>
            <a:spLocks noChangeArrowheads="1"/>
          </p:cNvSpPr>
          <p:nvPr/>
        </p:nvSpPr>
        <p:spPr bwMode="auto">
          <a:xfrm>
            <a:off x="790540" y="1784360"/>
            <a:ext cx="2848004" cy="1787515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9525">
            <a:noFill/>
            <a:round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642938" y="1857375"/>
            <a:ext cx="306705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A</a:t>
            </a:r>
            <a:r>
              <a:rPr lang="id-ID" sz="2400" b="1" dirty="0">
                <a:latin typeface="+mj-lt"/>
              </a:rPr>
              <a:t>spek Results </a:t>
            </a:r>
          </a:p>
          <a:p>
            <a:pPr algn="ctr">
              <a:defRPr/>
            </a:pPr>
            <a:r>
              <a:rPr lang="id-ID" sz="2400" b="1" dirty="0">
                <a:latin typeface="+mj-lt"/>
              </a:rPr>
              <a:t>(Key Performance Indicators) </a:t>
            </a:r>
          </a:p>
          <a:p>
            <a:pPr algn="ctr">
              <a:defRPr/>
            </a:pPr>
            <a:r>
              <a:rPr lang="id-ID" sz="2400" b="1" dirty="0">
                <a:solidFill>
                  <a:srgbClr val="C00000"/>
                </a:solidFill>
                <a:latin typeface="+mj-lt"/>
              </a:rPr>
              <a:t>Bobot : 60%</a:t>
            </a:r>
            <a:endParaRPr lang="en-US" sz="2400" b="1" noProof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785786" y="4046542"/>
            <a:ext cx="2848004" cy="1954225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9525">
            <a:noFill/>
            <a:round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19138" y="4214813"/>
            <a:ext cx="3067050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A</a:t>
            </a:r>
            <a:r>
              <a:rPr lang="id-ID" sz="2400" b="1" dirty="0">
                <a:latin typeface="+mj-lt"/>
              </a:rPr>
              <a:t>spek Kompetensi</a:t>
            </a:r>
          </a:p>
          <a:p>
            <a:pPr algn="ctr">
              <a:defRPr/>
            </a:pPr>
            <a:r>
              <a:rPr lang="id-ID" sz="2400" b="1" dirty="0">
                <a:latin typeface="+mj-lt"/>
              </a:rPr>
              <a:t>(Kompetensi dan Perilaku)</a:t>
            </a:r>
          </a:p>
          <a:p>
            <a:pPr algn="ctr">
              <a:defRPr/>
            </a:pPr>
            <a:r>
              <a:rPr lang="id-ID" sz="2400" b="1" noProof="1">
                <a:solidFill>
                  <a:srgbClr val="C00000"/>
                </a:solidFill>
                <a:latin typeface="+mj-lt"/>
              </a:rPr>
              <a:t>Bobot : 40 %</a:t>
            </a:r>
            <a:endParaRPr lang="en-US" sz="2400" b="1" noProof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A77744-F159-4AF1-8080-61E9A0C15015}" type="slidenum">
              <a:rPr lang="sq-AL" sz="2400" b="1">
                <a:solidFill>
                  <a:srgbClr val="0070C0"/>
                </a:solidFill>
              </a:rPr>
              <a:pPr>
                <a:defRPr/>
              </a:pPr>
              <a:t>10</a:t>
            </a:fld>
            <a:endParaRPr lang="sq-AL" sz="24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72063" y="1785938"/>
            <a:ext cx="3714750" cy="401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800"/>
              </a:lnSpc>
              <a:defRPr/>
            </a:pPr>
            <a:r>
              <a:rPr lang="id-ID" sz="2200" dirty="0">
                <a:latin typeface="+mn-lt"/>
              </a:rPr>
              <a:t>Dari contoh (yang diuraikan dalam slide sebelumnya) terdapat data sbb:</a:t>
            </a:r>
          </a:p>
          <a:p>
            <a:pPr>
              <a:lnSpc>
                <a:spcPts val="2800"/>
              </a:lnSpc>
              <a:defRPr/>
            </a:pPr>
            <a:r>
              <a:rPr lang="id-ID" sz="2200" dirty="0">
                <a:latin typeface="+mn-lt"/>
              </a:rPr>
              <a:t>Skor KPI = 92</a:t>
            </a:r>
          </a:p>
          <a:p>
            <a:pPr>
              <a:lnSpc>
                <a:spcPts val="2800"/>
              </a:lnSpc>
              <a:defRPr/>
            </a:pPr>
            <a:r>
              <a:rPr lang="id-ID" sz="2200" dirty="0">
                <a:latin typeface="+mn-lt"/>
              </a:rPr>
              <a:t>Skor Kompetensi = 72</a:t>
            </a:r>
          </a:p>
          <a:p>
            <a:pPr>
              <a:lnSpc>
                <a:spcPts val="2800"/>
              </a:lnSpc>
              <a:defRPr/>
            </a:pPr>
            <a:endParaRPr lang="id-ID" sz="2200" dirty="0">
              <a:latin typeface="+mn-lt"/>
            </a:endParaRPr>
          </a:p>
          <a:p>
            <a:pPr>
              <a:lnSpc>
                <a:spcPts val="2800"/>
              </a:lnSpc>
              <a:defRPr/>
            </a:pPr>
            <a:r>
              <a:rPr lang="id-ID" sz="2200" dirty="0">
                <a:latin typeface="+mn-lt"/>
              </a:rPr>
              <a:t>Maka Skor Total =</a:t>
            </a:r>
          </a:p>
          <a:p>
            <a:pPr>
              <a:lnSpc>
                <a:spcPts val="2800"/>
              </a:lnSpc>
              <a:defRPr/>
            </a:pPr>
            <a:r>
              <a:rPr lang="id-ID" sz="2200" dirty="0">
                <a:latin typeface="+mn-lt"/>
              </a:rPr>
              <a:t>(60% x 92) + (40% x 82) </a:t>
            </a:r>
          </a:p>
          <a:p>
            <a:pPr>
              <a:lnSpc>
                <a:spcPts val="2800"/>
              </a:lnSpc>
              <a:defRPr/>
            </a:pPr>
            <a:r>
              <a:rPr lang="id-ID" sz="2400" b="1" dirty="0">
                <a:latin typeface="+mn-lt"/>
              </a:rPr>
              <a:t>= 84</a:t>
            </a:r>
          </a:p>
          <a:p>
            <a:pPr>
              <a:lnSpc>
                <a:spcPts val="2800"/>
              </a:lnSpc>
              <a:defRPr/>
            </a:pPr>
            <a:endParaRPr lang="id-ID" sz="2200" dirty="0">
              <a:latin typeface="+mn-lt"/>
            </a:endParaRPr>
          </a:p>
          <a:p>
            <a:pPr>
              <a:lnSpc>
                <a:spcPts val="2800"/>
              </a:lnSpc>
              <a:defRPr/>
            </a:pPr>
            <a:endParaRPr lang="en-US" sz="2200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Arrow 16"/>
          <p:cNvSpPr/>
          <p:nvPr/>
        </p:nvSpPr>
        <p:spPr>
          <a:xfrm>
            <a:off x="5357813" y="3214688"/>
            <a:ext cx="857250" cy="857250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43636" y="2357430"/>
            <a:ext cx="2428892" cy="2857520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000496" y="2571744"/>
            <a:ext cx="1571636" cy="235745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69" name="AutoShape 8"/>
          <p:cNvSpPr>
            <a:spLocks/>
          </p:cNvSpPr>
          <p:nvPr/>
        </p:nvSpPr>
        <p:spPr bwMode="auto">
          <a:xfrm>
            <a:off x="3071813" y="2333625"/>
            <a:ext cx="1066800" cy="2667000"/>
          </a:xfrm>
          <a:prstGeom prst="rightBrace">
            <a:avLst>
              <a:gd name="adj1" fmla="val 20833"/>
              <a:gd name="adj2" fmla="val 50000"/>
            </a:avLst>
          </a:prstGeom>
          <a:noFill/>
          <a:ln w="57150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ar-DZ" alt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1917955" name="Rectangle 3"/>
          <p:cNvSpPr>
            <a:spLocks noChangeArrowheads="1"/>
          </p:cNvSpPr>
          <p:nvPr/>
        </p:nvSpPr>
        <p:spPr bwMode="auto">
          <a:xfrm>
            <a:off x="428625" y="357188"/>
            <a:ext cx="77438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sq-AL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Dua Komponen </a:t>
            </a:r>
            <a:r>
              <a:rPr lang="id-ID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Kunci </a:t>
            </a:r>
            <a:r>
              <a:rPr lang="sq-AL" sz="3600" b="1" noProof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Penilaian Kinerja </a:t>
            </a:r>
          </a:p>
        </p:txBody>
      </p:sp>
      <p:sp>
        <p:nvSpPr>
          <p:cNvPr id="80900" name="AutoShape 4"/>
          <p:cNvSpPr>
            <a:spLocks noChangeArrowheads="1"/>
          </p:cNvSpPr>
          <p:nvPr/>
        </p:nvSpPr>
        <p:spPr bwMode="auto">
          <a:xfrm>
            <a:off x="433350" y="1784360"/>
            <a:ext cx="2848004" cy="1787515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9525">
            <a:noFill/>
            <a:round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285750" y="1857375"/>
            <a:ext cx="306705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A</a:t>
            </a:r>
            <a:r>
              <a:rPr lang="id-ID" sz="2400" b="1" dirty="0">
                <a:latin typeface="+mj-lt"/>
              </a:rPr>
              <a:t>spek Results </a:t>
            </a:r>
          </a:p>
          <a:p>
            <a:pPr algn="ctr">
              <a:defRPr/>
            </a:pPr>
            <a:r>
              <a:rPr lang="id-ID" sz="2400" b="1" dirty="0">
                <a:latin typeface="+mj-lt"/>
              </a:rPr>
              <a:t>(Key Performance Indicators) </a:t>
            </a:r>
          </a:p>
          <a:p>
            <a:pPr algn="ctr">
              <a:defRPr/>
            </a:pPr>
            <a:r>
              <a:rPr lang="id-ID" sz="2400" b="1" dirty="0">
                <a:solidFill>
                  <a:srgbClr val="C00000"/>
                </a:solidFill>
                <a:latin typeface="+mj-lt"/>
              </a:rPr>
              <a:t>Bobot : 60%</a:t>
            </a:r>
            <a:endParaRPr lang="en-US" sz="2400" b="1" noProof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428596" y="4046542"/>
            <a:ext cx="2848004" cy="1954225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9525">
            <a:noFill/>
            <a:round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>
              <a:defRPr/>
            </a:pPr>
            <a:endParaRPr lang="en-US" noProof="1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61950" y="4214813"/>
            <a:ext cx="3067050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A</a:t>
            </a:r>
            <a:r>
              <a:rPr lang="id-ID" sz="2400" b="1" dirty="0">
                <a:latin typeface="+mj-lt"/>
              </a:rPr>
              <a:t>spek Kompetensi</a:t>
            </a:r>
          </a:p>
          <a:p>
            <a:pPr algn="ctr">
              <a:defRPr/>
            </a:pPr>
            <a:r>
              <a:rPr lang="id-ID" sz="2400" b="1" dirty="0">
                <a:latin typeface="+mj-lt"/>
              </a:rPr>
              <a:t>(Kompetensi dan Perilaku)</a:t>
            </a:r>
          </a:p>
          <a:p>
            <a:pPr algn="ctr">
              <a:defRPr/>
            </a:pPr>
            <a:r>
              <a:rPr lang="id-ID" sz="2400" b="1" noProof="1">
                <a:solidFill>
                  <a:srgbClr val="C00000"/>
                </a:solidFill>
                <a:latin typeface="+mj-lt"/>
              </a:rPr>
              <a:t>Bobot : 40 %</a:t>
            </a:r>
            <a:endParaRPr lang="en-US" sz="2400" b="1" noProof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7454C-3FAA-4852-9861-AB89D4C93D20}" type="slidenum">
              <a:rPr lang="sq-AL" sz="2400" b="1">
                <a:solidFill>
                  <a:srgbClr val="0070C0"/>
                </a:solidFill>
              </a:rPr>
              <a:pPr>
                <a:defRPr/>
              </a:pPr>
              <a:t>11</a:t>
            </a:fld>
            <a:endParaRPr lang="sq-AL" sz="2400" b="1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43375" y="3014663"/>
            <a:ext cx="128587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id-ID" sz="2400" b="1" dirty="0">
                <a:solidFill>
                  <a:schemeClr val="bg1"/>
                </a:solidFill>
                <a:latin typeface="+mj-lt"/>
              </a:rPr>
              <a:t>Skor Total = 84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7938" y="2571750"/>
            <a:ext cx="2143125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id-ID" sz="2400" b="1" dirty="0">
                <a:solidFill>
                  <a:schemeClr val="bg1"/>
                </a:solidFill>
                <a:latin typeface="+mj-lt"/>
              </a:rPr>
              <a:t>Bonus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id-ID" sz="2400" b="1" dirty="0">
                <a:solidFill>
                  <a:schemeClr val="bg1"/>
                </a:solidFill>
                <a:latin typeface="+mj-lt"/>
              </a:rPr>
              <a:t>Kenaikan Gaji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id-ID" sz="2400" b="1" dirty="0">
                <a:solidFill>
                  <a:schemeClr val="bg1"/>
                </a:solidFill>
                <a:latin typeface="+mj-lt"/>
              </a:rPr>
              <a:t>Promosi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id-ID" sz="2400" b="1" dirty="0">
                <a:solidFill>
                  <a:schemeClr val="bg1"/>
                </a:solidFill>
                <a:latin typeface="+mj-lt"/>
              </a:rPr>
              <a:t>Training Plan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611560" y="1700808"/>
            <a:ext cx="7119898" cy="4284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  <a:spcAft>
                <a:spcPts val="1200"/>
              </a:spcAft>
            </a:pPr>
            <a:r>
              <a:rPr lang="af-ZA" sz="3200" b="1" dirty="0">
                <a:solidFill>
                  <a:srgbClr val="C00000"/>
                </a:solidFill>
                <a:latin typeface="Calibri" pitchFamily="34" charset="0"/>
              </a:rPr>
              <a:t>Nilai Akhir		Persentase kenaikan gaji</a:t>
            </a:r>
          </a:p>
          <a:p>
            <a:pPr>
              <a:lnSpc>
                <a:spcPts val="2600"/>
              </a:lnSpc>
              <a:spcBef>
                <a:spcPts val="1200"/>
              </a:spcBef>
              <a:spcAft>
                <a:spcPts val="1200"/>
              </a:spcAft>
            </a:pPr>
            <a:r>
              <a:rPr lang="af-ZA" sz="2800" dirty="0">
                <a:latin typeface="Calibri" pitchFamily="34" charset="0"/>
              </a:rPr>
              <a:t>Nilai 95 keatas 			15 %</a:t>
            </a:r>
          </a:p>
          <a:p>
            <a:pPr>
              <a:lnSpc>
                <a:spcPts val="2600"/>
              </a:lnSpc>
              <a:spcBef>
                <a:spcPts val="1200"/>
              </a:spcBef>
              <a:spcAft>
                <a:spcPts val="1200"/>
              </a:spcAft>
            </a:pPr>
            <a:r>
              <a:rPr lang="af-ZA" sz="2800" dirty="0">
                <a:latin typeface="Calibri" pitchFamily="34" charset="0"/>
              </a:rPr>
              <a:t>Nilai 90 – 94		</a:t>
            </a:r>
            <a:r>
              <a:rPr lang="af-ZA" sz="2800">
                <a:latin typeface="Calibri" pitchFamily="34" charset="0"/>
              </a:rPr>
              <a:t>	</a:t>
            </a:r>
            <a:r>
              <a:rPr lang="id-ID" sz="2800" smtClean="0">
                <a:latin typeface="Calibri" pitchFamily="34" charset="0"/>
              </a:rPr>
              <a:t>	</a:t>
            </a:r>
            <a:r>
              <a:rPr lang="af-ZA" sz="2800" smtClean="0">
                <a:latin typeface="Calibri" pitchFamily="34" charset="0"/>
              </a:rPr>
              <a:t>12</a:t>
            </a:r>
            <a:r>
              <a:rPr lang="af-ZA" sz="2800" dirty="0">
                <a:latin typeface="Calibri" pitchFamily="34" charset="0"/>
              </a:rPr>
              <a:t>%</a:t>
            </a:r>
          </a:p>
          <a:p>
            <a:pPr>
              <a:lnSpc>
                <a:spcPts val="2600"/>
              </a:lnSpc>
              <a:spcBef>
                <a:spcPts val="1200"/>
              </a:spcBef>
              <a:spcAft>
                <a:spcPts val="1200"/>
              </a:spcAft>
            </a:pPr>
            <a:r>
              <a:rPr lang="af-ZA" sz="2800" dirty="0">
                <a:latin typeface="Calibri" pitchFamily="34" charset="0"/>
              </a:rPr>
              <a:t>Nilai 80 – 89			</a:t>
            </a:r>
            <a:r>
              <a:rPr lang="af-ZA" sz="2800">
                <a:latin typeface="Calibri" pitchFamily="34" charset="0"/>
              </a:rPr>
              <a:t> </a:t>
            </a:r>
            <a:r>
              <a:rPr lang="id-ID" sz="2800" smtClean="0">
                <a:latin typeface="Calibri" pitchFamily="34" charset="0"/>
              </a:rPr>
              <a:t>	</a:t>
            </a:r>
            <a:r>
              <a:rPr lang="af-ZA" sz="2800" smtClean="0">
                <a:latin typeface="Calibri" pitchFamily="34" charset="0"/>
              </a:rPr>
              <a:t> </a:t>
            </a:r>
            <a:r>
              <a:rPr lang="af-ZA" sz="2800" dirty="0">
                <a:latin typeface="Calibri" pitchFamily="34" charset="0"/>
              </a:rPr>
              <a:t>9 %</a:t>
            </a:r>
          </a:p>
          <a:p>
            <a:pPr>
              <a:lnSpc>
                <a:spcPts val="2600"/>
              </a:lnSpc>
              <a:spcBef>
                <a:spcPts val="1200"/>
              </a:spcBef>
              <a:spcAft>
                <a:spcPts val="1200"/>
              </a:spcAft>
            </a:pPr>
            <a:r>
              <a:rPr lang="af-ZA" sz="2800" dirty="0">
                <a:latin typeface="Calibri" pitchFamily="34" charset="0"/>
              </a:rPr>
              <a:t>Nilai 70 – 79			</a:t>
            </a:r>
            <a:r>
              <a:rPr lang="af-ZA" sz="2800">
                <a:latin typeface="Calibri" pitchFamily="34" charset="0"/>
              </a:rPr>
              <a:t> </a:t>
            </a:r>
            <a:r>
              <a:rPr lang="id-ID" sz="2800" smtClean="0">
                <a:latin typeface="Calibri" pitchFamily="34" charset="0"/>
              </a:rPr>
              <a:t>	</a:t>
            </a:r>
            <a:r>
              <a:rPr lang="af-ZA" sz="2800" smtClean="0">
                <a:latin typeface="Calibri" pitchFamily="34" charset="0"/>
              </a:rPr>
              <a:t> </a:t>
            </a:r>
            <a:r>
              <a:rPr lang="af-ZA" sz="2800" dirty="0">
                <a:latin typeface="Calibri" pitchFamily="34" charset="0"/>
              </a:rPr>
              <a:t>6 %</a:t>
            </a:r>
          </a:p>
          <a:p>
            <a:pPr>
              <a:lnSpc>
                <a:spcPts val="2600"/>
              </a:lnSpc>
              <a:spcBef>
                <a:spcPts val="1200"/>
              </a:spcBef>
              <a:spcAft>
                <a:spcPts val="1200"/>
              </a:spcAft>
            </a:pPr>
            <a:r>
              <a:rPr lang="af-ZA" sz="2800" dirty="0">
                <a:latin typeface="Calibri" pitchFamily="34" charset="0"/>
              </a:rPr>
              <a:t>Nolai 60 – 69			  3%</a:t>
            </a:r>
          </a:p>
          <a:p>
            <a:pPr>
              <a:lnSpc>
                <a:spcPts val="2600"/>
              </a:lnSpc>
              <a:spcBef>
                <a:spcPts val="1200"/>
              </a:spcBef>
              <a:spcAft>
                <a:spcPts val="1200"/>
              </a:spcAft>
            </a:pPr>
            <a:r>
              <a:rPr lang="af-ZA" sz="2800" dirty="0">
                <a:latin typeface="Calibri" pitchFamily="34" charset="0"/>
              </a:rPr>
              <a:t>Nilai 60 kebawah			  0%	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95536" y="380999"/>
            <a:ext cx="7010400" cy="675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id-ID" sz="3600" b="1" smtClean="0"/>
              <a:t>Skala Kenaikan Gaji</a:t>
            </a:r>
            <a:endParaRPr lang="en-US" sz="3600" b="1" noProof="1"/>
          </a:p>
        </p:txBody>
      </p:sp>
    </p:spTree>
    <p:extLst>
      <p:ext uri="{BB962C8B-B14F-4D97-AF65-F5344CB8AC3E}">
        <p14:creationId xmlns:p14="http://schemas.microsoft.com/office/powerpoint/2010/main" val="28182626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539552" y="1484784"/>
            <a:ext cx="6226384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ts val="2600"/>
              </a:lnSpc>
              <a:spcBef>
                <a:spcPts val="1800"/>
              </a:spcBef>
              <a:spcAft>
                <a:spcPts val="1800"/>
              </a:spcAft>
            </a:pPr>
            <a:r>
              <a:rPr lang="af-ZA" sz="3200" b="1" dirty="0">
                <a:solidFill>
                  <a:srgbClr val="C00000"/>
                </a:solidFill>
                <a:latin typeface="Calibri" pitchFamily="34" charset="0"/>
              </a:rPr>
              <a:t>Nilai Akhir			Jumlah bonus</a:t>
            </a:r>
          </a:p>
          <a:p>
            <a:pPr>
              <a:lnSpc>
                <a:spcPts val="2600"/>
              </a:lnSpc>
              <a:spcBef>
                <a:spcPts val="1800"/>
              </a:spcBef>
              <a:spcAft>
                <a:spcPts val="1800"/>
              </a:spcAft>
            </a:pPr>
            <a:r>
              <a:rPr lang="af-ZA" sz="2800" dirty="0">
                <a:latin typeface="Calibri" pitchFamily="34" charset="0"/>
              </a:rPr>
              <a:t>Nilai 95 keatas	</a:t>
            </a:r>
            <a:r>
              <a:rPr lang="af-ZA" sz="2800">
                <a:latin typeface="Calibri" pitchFamily="34" charset="0"/>
              </a:rPr>
              <a:t>	</a:t>
            </a:r>
            <a:r>
              <a:rPr lang="id-ID" sz="2800">
                <a:latin typeface="Calibri" pitchFamily="34" charset="0"/>
              </a:rPr>
              <a:t>4</a:t>
            </a:r>
            <a:r>
              <a:rPr lang="af-ZA" sz="2800" smtClean="0">
                <a:latin typeface="Calibri" pitchFamily="34" charset="0"/>
              </a:rPr>
              <a:t> </a:t>
            </a:r>
            <a:r>
              <a:rPr lang="af-ZA" sz="2800" dirty="0">
                <a:latin typeface="Calibri" pitchFamily="34" charset="0"/>
              </a:rPr>
              <a:t>kali gaji</a:t>
            </a:r>
          </a:p>
          <a:p>
            <a:pPr>
              <a:lnSpc>
                <a:spcPts val="2600"/>
              </a:lnSpc>
              <a:spcBef>
                <a:spcPts val="1800"/>
              </a:spcBef>
              <a:spcAft>
                <a:spcPts val="1800"/>
              </a:spcAft>
            </a:pPr>
            <a:r>
              <a:rPr lang="af-ZA" sz="2800" dirty="0">
                <a:latin typeface="Calibri" pitchFamily="34" charset="0"/>
              </a:rPr>
              <a:t>Nilai 90 – 94		</a:t>
            </a:r>
            <a:r>
              <a:rPr lang="af-ZA" sz="2800">
                <a:latin typeface="Calibri" pitchFamily="34" charset="0"/>
              </a:rPr>
              <a:t>	</a:t>
            </a:r>
            <a:r>
              <a:rPr lang="id-ID" sz="2800" smtClean="0">
                <a:latin typeface="Calibri" pitchFamily="34" charset="0"/>
              </a:rPr>
              <a:t>3</a:t>
            </a:r>
            <a:r>
              <a:rPr lang="af-ZA" sz="2800" smtClean="0">
                <a:latin typeface="Calibri" pitchFamily="34" charset="0"/>
              </a:rPr>
              <a:t> </a:t>
            </a:r>
            <a:r>
              <a:rPr lang="af-ZA" sz="2800" dirty="0">
                <a:latin typeface="Calibri" pitchFamily="34" charset="0"/>
              </a:rPr>
              <a:t>kali gaji</a:t>
            </a:r>
          </a:p>
          <a:p>
            <a:pPr>
              <a:lnSpc>
                <a:spcPts val="2600"/>
              </a:lnSpc>
              <a:spcBef>
                <a:spcPts val="1800"/>
              </a:spcBef>
              <a:spcAft>
                <a:spcPts val="1800"/>
              </a:spcAft>
            </a:pPr>
            <a:r>
              <a:rPr lang="af-ZA" sz="2800" dirty="0">
                <a:latin typeface="Calibri" pitchFamily="34" charset="0"/>
              </a:rPr>
              <a:t>Nilai 80 – 89		</a:t>
            </a:r>
            <a:r>
              <a:rPr lang="af-ZA" sz="2800">
                <a:latin typeface="Calibri" pitchFamily="34" charset="0"/>
              </a:rPr>
              <a:t>	</a:t>
            </a:r>
            <a:r>
              <a:rPr lang="id-ID" sz="2800" dirty="0">
                <a:latin typeface="Calibri" pitchFamily="34" charset="0"/>
              </a:rPr>
              <a:t>1</a:t>
            </a:r>
            <a:r>
              <a:rPr lang="af-ZA" sz="2800" smtClean="0">
                <a:latin typeface="Calibri" pitchFamily="34" charset="0"/>
              </a:rPr>
              <a:t> </a:t>
            </a:r>
            <a:r>
              <a:rPr lang="af-ZA" sz="2800" dirty="0">
                <a:latin typeface="Calibri" pitchFamily="34" charset="0"/>
              </a:rPr>
              <a:t>kali gaji</a:t>
            </a:r>
          </a:p>
          <a:p>
            <a:pPr>
              <a:lnSpc>
                <a:spcPts val="2600"/>
              </a:lnSpc>
              <a:spcBef>
                <a:spcPts val="1800"/>
              </a:spcBef>
              <a:spcAft>
                <a:spcPts val="1800"/>
              </a:spcAft>
            </a:pPr>
            <a:r>
              <a:rPr lang="af-ZA" sz="2800" dirty="0">
                <a:latin typeface="Calibri" pitchFamily="34" charset="0"/>
              </a:rPr>
              <a:t>Nilai 70 – 79		</a:t>
            </a:r>
            <a:r>
              <a:rPr lang="af-ZA" sz="2800">
                <a:latin typeface="Calibri" pitchFamily="34" charset="0"/>
              </a:rPr>
              <a:t>	</a:t>
            </a:r>
            <a:r>
              <a:rPr lang="id-ID" sz="2800" smtClean="0">
                <a:latin typeface="Calibri" pitchFamily="34" charset="0"/>
              </a:rPr>
              <a:t>0,5</a:t>
            </a:r>
            <a:r>
              <a:rPr lang="af-ZA" sz="2800" smtClean="0">
                <a:latin typeface="Calibri" pitchFamily="34" charset="0"/>
              </a:rPr>
              <a:t> </a:t>
            </a:r>
            <a:r>
              <a:rPr lang="af-ZA" sz="2800" dirty="0">
                <a:latin typeface="Calibri" pitchFamily="34" charset="0"/>
              </a:rPr>
              <a:t>kali gaji</a:t>
            </a:r>
          </a:p>
          <a:p>
            <a:pPr>
              <a:lnSpc>
                <a:spcPts val="2600"/>
              </a:lnSpc>
              <a:spcBef>
                <a:spcPts val="1800"/>
              </a:spcBef>
              <a:spcAft>
                <a:spcPts val="1800"/>
              </a:spcAft>
            </a:pPr>
            <a:r>
              <a:rPr lang="af-ZA" sz="2800" smtClean="0">
                <a:latin typeface="Calibri" pitchFamily="34" charset="0"/>
              </a:rPr>
              <a:t>Nilai </a:t>
            </a:r>
            <a:r>
              <a:rPr lang="id-ID" sz="2800" smtClean="0">
                <a:latin typeface="Calibri" pitchFamily="34" charset="0"/>
              </a:rPr>
              <a:t>7</a:t>
            </a:r>
            <a:r>
              <a:rPr lang="af-ZA" sz="2800" smtClean="0">
                <a:latin typeface="Calibri" pitchFamily="34" charset="0"/>
              </a:rPr>
              <a:t>0 </a:t>
            </a:r>
            <a:r>
              <a:rPr lang="af-ZA" sz="2800" dirty="0">
                <a:latin typeface="Calibri" pitchFamily="34" charset="0"/>
              </a:rPr>
              <a:t>kebawah		</a:t>
            </a:r>
            <a:r>
              <a:rPr lang="af-ZA" sz="2800" smtClean="0">
                <a:latin typeface="Calibri" pitchFamily="34" charset="0"/>
              </a:rPr>
              <a:t> </a:t>
            </a:r>
            <a:r>
              <a:rPr lang="af-ZA" sz="2800" smtClean="0">
                <a:latin typeface="Calibri" pitchFamily="34" charset="0"/>
              </a:rPr>
              <a:t>0</a:t>
            </a:r>
            <a:r>
              <a:rPr lang="id-ID" sz="2800" smtClean="0">
                <a:latin typeface="Calibri" pitchFamily="34" charset="0"/>
              </a:rPr>
              <a:t> kali gaji</a:t>
            </a:r>
            <a:r>
              <a:rPr lang="af-ZA" sz="2800" dirty="0">
                <a:latin typeface="Calibri" pitchFamily="34" charset="0"/>
              </a:rPr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d-ID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395536" y="380999"/>
            <a:ext cx="7010400" cy="675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id-ID" sz="3600" b="1" smtClean="0"/>
              <a:t>Skala Pemberian Bonus</a:t>
            </a:r>
            <a:endParaRPr lang="en-US" sz="3600" b="1" noProof="1"/>
          </a:p>
        </p:txBody>
      </p:sp>
    </p:spTree>
    <p:extLst>
      <p:ext uri="{BB962C8B-B14F-4D97-AF65-F5344CB8AC3E}">
        <p14:creationId xmlns:p14="http://schemas.microsoft.com/office/powerpoint/2010/main" val="15878006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ChangeArrowheads="1"/>
          </p:cNvSpPr>
          <p:nvPr/>
        </p:nvSpPr>
        <p:spPr bwMode="auto">
          <a:xfrm>
            <a:off x="0" y="0"/>
            <a:ext cx="9144000" cy="2643188"/>
          </a:xfrm>
          <a:prstGeom prst="rect">
            <a:avLst/>
          </a:prstGeom>
          <a:solidFill>
            <a:srgbClr val="FFC000"/>
          </a:solidFill>
          <a:ln w="9525">
            <a:solidFill>
              <a:schemeClr val="accent3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sq-AL" dirty="0">
              <a:latin typeface="Calibri" pitchFamily="34" charset="0"/>
              <a:cs typeface="+mn-cs"/>
            </a:endParaRPr>
          </a:p>
        </p:txBody>
      </p:sp>
      <p:sp>
        <p:nvSpPr>
          <p:cNvPr id="16387" name="TextBox 5"/>
          <p:cNvSpPr txBox="1">
            <a:spLocks noChangeArrowheads="1"/>
          </p:cNvSpPr>
          <p:nvPr/>
        </p:nvSpPr>
        <p:spPr bwMode="auto">
          <a:xfrm>
            <a:off x="285750" y="2714625"/>
            <a:ext cx="7023100" cy="387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id-ID" altLang="en-US" sz="2000" b="1" i="1"/>
              <a:t>Contact Person :</a:t>
            </a:r>
          </a:p>
          <a:p>
            <a:pPr eaLnBrk="1" hangingPunct="1">
              <a:lnSpc>
                <a:spcPct val="150000"/>
              </a:lnSpc>
            </a:pPr>
            <a:r>
              <a:rPr lang="id-ID" altLang="en-US" sz="2400" b="1"/>
              <a:t>Yodhia Antariksa, </a:t>
            </a:r>
            <a:r>
              <a:rPr lang="id-ID" altLang="en-US" b="1"/>
              <a:t>Msc in HR Management</a:t>
            </a:r>
          </a:p>
          <a:p>
            <a:pPr lvl="1" eaLnBrk="1" hangingPunct="1">
              <a:lnSpc>
                <a:spcPct val="150000"/>
              </a:lnSpc>
              <a:buFont typeface="Arial" charset="0"/>
              <a:buChar char="•"/>
            </a:pPr>
            <a:r>
              <a:rPr lang="id-ID" altLang="en-US" sz="2400" i="1"/>
              <a:t>Managing Director</a:t>
            </a:r>
            <a:endParaRPr lang="id-ID" altLang="en-US" sz="2400" b="1"/>
          </a:p>
          <a:p>
            <a:pPr lvl="1" eaLnBrk="1" hangingPunct="1">
              <a:lnSpc>
                <a:spcPct val="150000"/>
              </a:lnSpc>
              <a:buFont typeface="Arial" charset="0"/>
              <a:buChar char="•"/>
            </a:pPr>
            <a:r>
              <a:rPr lang="id-ID" altLang="en-US" sz="2400"/>
              <a:t>Phone : 0817 482 3235</a:t>
            </a:r>
          </a:p>
          <a:p>
            <a:pPr lvl="1" eaLnBrk="1" hangingPunct="1">
              <a:lnSpc>
                <a:spcPct val="150000"/>
              </a:lnSpc>
              <a:buFont typeface="Arial" charset="0"/>
              <a:buChar char="•"/>
            </a:pPr>
            <a:r>
              <a:rPr lang="id-ID" altLang="en-US" sz="2400"/>
              <a:t>Email : </a:t>
            </a:r>
            <a:r>
              <a:rPr lang="id-ID" altLang="en-US" sz="2400" b="1" smtClean="0">
                <a:solidFill>
                  <a:srgbClr val="C00000"/>
                </a:solidFill>
              </a:rPr>
              <a:t>antariksa@exploreHR.org</a:t>
            </a:r>
            <a:endParaRPr lang="id-ID" altLang="en-US" sz="2400" b="1">
              <a:solidFill>
                <a:srgbClr val="C00000"/>
              </a:solidFill>
            </a:endParaRPr>
          </a:p>
          <a:p>
            <a:pPr lvl="1" eaLnBrk="1" hangingPunct="1">
              <a:lnSpc>
                <a:spcPct val="150000"/>
              </a:lnSpc>
              <a:buFont typeface="Arial" charset="0"/>
              <a:buChar char="•"/>
            </a:pPr>
            <a:r>
              <a:rPr lang="id-ID" altLang="en-US" sz="2400"/>
              <a:t>Web : </a:t>
            </a:r>
            <a:r>
              <a:rPr lang="id-ID" altLang="en-US" sz="2400" b="1">
                <a:solidFill>
                  <a:srgbClr val="C00000"/>
                </a:solidFill>
              </a:rPr>
              <a:t>www.manajemenkinerja.com</a:t>
            </a:r>
          </a:p>
          <a:p>
            <a:pPr eaLnBrk="1" hangingPunct="1">
              <a:lnSpc>
                <a:spcPct val="150000"/>
              </a:lnSpc>
            </a:pPr>
            <a:endParaRPr lang="id-ID" altLang="en-US" sz="2400"/>
          </a:p>
        </p:txBody>
      </p:sp>
      <p:sp>
        <p:nvSpPr>
          <p:cNvPr id="16388" name="TextBox 6"/>
          <p:cNvSpPr txBox="1">
            <a:spLocks noChangeArrowheads="1"/>
          </p:cNvSpPr>
          <p:nvPr/>
        </p:nvSpPr>
        <p:spPr bwMode="auto">
          <a:xfrm>
            <a:off x="285750" y="142875"/>
            <a:ext cx="5643563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ts val="3000"/>
              </a:lnSpc>
            </a:pPr>
            <a:r>
              <a:rPr lang="id-ID" altLang="en-US" sz="2200"/>
              <a:t>Jika kantor Anda membutuhkan workshop atau konsultasi pengembangan KPI karyawan, silakan hubungi</a:t>
            </a:r>
            <a:r>
              <a:rPr lang="id-ID" altLang="en-US" sz="2200">
                <a:solidFill>
                  <a:srgbClr val="C00000"/>
                </a:solidFill>
              </a:rPr>
              <a:t> </a:t>
            </a:r>
            <a:r>
              <a:rPr lang="id-ID" altLang="en-US" sz="2200" b="1">
                <a:solidFill>
                  <a:srgbClr val="C00000"/>
                </a:solidFill>
              </a:rPr>
              <a:t>PT. Manajemen Kinerja Utama</a:t>
            </a:r>
            <a:r>
              <a:rPr lang="id-ID" altLang="en-US" sz="2200"/>
              <a:t>, lembaga konsultan yang fokus melayani jasa pengembangan KPI dan sistem manajemen kinerja. </a:t>
            </a:r>
          </a:p>
        </p:txBody>
      </p:sp>
      <p:pic>
        <p:nvPicPr>
          <p:cNvPr id="14345" name="Picture 9" descr="D:\Aneka FILES\FOTO\Foto Lebaran 2010\Yodhia Antariksa resize 2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88" y="1000125"/>
            <a:ext cx="2744787" cy="367188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432</Words>
  <Application>Microsoft Office PowerPoint</Application>
  <PresentationFormat>On-screen Show (4:3)</PresentationFormat>
  <Paragraphs>104</Paragraphs>
  <Slides>14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Yodhia Antariksa</cp:lastModifiedBy>
  <cp:revision>79</cp:revision>
  <dcterms:created xsi:type="dcterms:W3CDTF">2010-09-04T06:42:11Z</dcterms:created>
  <dcterms:modified xsi:type="dcterms:W3CDTF">2017-02-24T07:19:12Z</dcterms:modified>
</cp:coreProperties>
</file>
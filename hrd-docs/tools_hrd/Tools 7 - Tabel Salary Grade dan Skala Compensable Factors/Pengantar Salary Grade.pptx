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442" r:id="rId2"/>
    <p:sldId id="443" r:id="rId3"/>
    <p:sldId id="446" r:id="rId4"/>
    <p:sldId id="445" r:id="rId5"/>
    <p:sldId id="444" r:id="rId6"/>
    <p:sldId id="447" r:id="rId7"/>
    <p:sldId id="448" r:id="rId8"/>
    <p:sldId id="449" r:id="rId9"/>
    <p:sldId id="450" r:id="rId10"/>
    <p:sldId id="451" r:id="rId11"/>
    <p:sldId id="452" r:id="rId12"/>
    <p:sldId id="453" r:id="rId13"/>
    <p:sldId id="454" r:id="rId14"/>
    <p:sldId id="455" r:id="rId15"/>
    <p:sldId id="456" r:id="rId16"/>
    <p:sldId id="462" r:id="rId17"/>
    <p:sldId id="459" r:id="rId18"/>
    <p:sldId id="460" r:id="rId19"/>
    <p:sldId id="457" r:id="rId20"/>
    <p:sldId id="461" r:id="rId21"/>
    <p:sldId id="46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2538" y="-4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1" d="100"/>
        <a:sy n="71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gsw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30C88-DAE7-40F6-8791-4D8771861FE7}" type="datetimeFigureOut">
              <a:rPr lang="en-US" smtClean="0"/>
              <a:pPr/>
              <a:t>14/04/2015</a:t>
            </a:fld>
            <a:endParaRPr lang="gsw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gsw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gsw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F16FC-D09B-48CC-9ACF-EE07F85A20CD}" type="slidenum">
              <a:rPr lang="gsw-FR" smtClean="0"/>
              <a:pPr/>
              <a:t>‹#›</a:t>
            </a:fld>
            <a:endParaRPr lang="gsw-FR"/>
          </a:p>
        </p:txBody>
      </p:sp>
    </p:spTree>
    <p:extLst>
      <p:ext uri="{BB962C8B-B14F-4D97-AF65-F5344CB8AC3E}">
        <p14:creationId xmlns:p14="http://schemas.microsoft.com/office/powerpoint/2010/main" val="1375040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1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2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3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5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6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7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8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9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10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11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12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13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14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15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16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17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18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19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20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E14DF-8AC5-4EC1-8076-ECC79706687F}" type="slidenum">
              <a:rPr lang="en-US"/>
              <a:pPr/>
              <a:t>21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gsw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2343-896F-4A5E-8F62-851F66E7177D}" type="datetimeFigureOut">
              <a:rPr lang="en-US" smtClean="0"/>
              <a:pPr/>
              <a:t>14/04/2015</a:t>
            </a:fld>
            <a:endParaRPr lang="gsw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2343-896F-4A5E-8F62-851F66E7177D}" type="datetimeFigureOut">
              <a:rPr lang="en-US" smtClean="0"/>
              <a:pPr/>
              <a:t>14/04/2015</a:t>
            </a:fld>
            <a:endParaRPr lang="gsw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2343-896F-4A5E-8F62-851F66E7177D}" type="datetimeFigureOut">
              <a:rPr lang="en-US" smtClean="0"/>
              <a:pPr/>
              <a:t>14/04/2015</a:t>
            </a:fld>
            <a:endParaRPr lang="gsw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2343-896F-4A5E-8F62-851F66E7177D}" type="datetimeFigureOut">
              <a:rPr lang="en-US" smtClean="0"/>
              <a:pPr/>
              <a:t>14/04/2015</a:t>
            </a:fld>
            <a:endParaRPr lang="gsw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2343-896F-4A5E-8F62-851F66E7177D}" type="datetimeFigureOut">
              <a:rPr lang="en-US" smtClean="0"/>
              <a:pPr/>
              <a:t>14/04/2015</a:t>
            </a:fld>
            <a:endParaRPr lang="gsw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2343-896F-4A5E-8F62-851F66E7177D}" type="datetimeFigureOut">
              <a:rPr lang="en-US" smtClean="0"/>
              <a:pPr/>
              <a:t>14/04/2015</a:t>
            </a:fld>
            <a:endParaRPr lang="gsw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2343-896F-4A5E-8F62-851F66E7177D}" type="datetimeFigureOut">
              <a:rPr lang="en-US" smtClean="0"/>
              <a:pPr/>
              <a:t>14/04/2015</a:t>
            </a:fld>
            <a:endParaRPr lang="gsw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2343-896F-4A5E-8F62-851F66E7177D}" type="datetimeFigureOut">
              <a:rPr lang="en-US" smtClean="0"/>
              <a:pPr/>
              <a:t>14/04/2015</a:t>
            </a:fld>
            <a:endParaRPr lang="gsw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gsw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2343-896F-4A5E-8F62-851F66E7177D}" type="datetimeFigureOut">
              <a:rPr lang="en-US" smtClean="0"/>
              <a:pPr/>
              <a:t>14/04/2015</a:t>
            </a:fld>
            <a:endParaRPr lang="gsw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2343-896F-4A5E-8F62-851F66E7177D}" type="datetimeFigureOut">
              <a:rPr lang="en-US" smtClean="0"/>
              <a:pPr/>
              <a:t>14/04/2015</a:t>
            </a:fld>
            <a:endParaRPr lang="gsw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2343-896F-4A5E-8F62-851F66E7177D}" type="datetimeFigureOut">
              <a:rPr lang="en-US" smtClean="0"/>
              <a:pPr/>
              <a:t>14/04/2015</a:t>
            </a:fld>
            <a:endParaRPr lang="gsw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1" name="Rectangle 11"/>
          <p:cNvSpPr>
            <a:spLocks noChangeArrowheads="1"/>
          </p:cNvSpPr>
          <p:nvPr userDrawn="1"/>
        </p:nvSpPr>
        <p:spPr bwMode="auto">
          <a:xfrm>
            <a:off x="8072462" y="6448032"/>
            <a:ext cx="923901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fld id="{914F3DDE-8A9A-4704-8C34-4A0037B3BBA0}" type="slidenum">
              <a:rPr lang="en-US" sz="1400" b="0">
                <a:solidFill>
                  <a:schemeClr val="tx2">
                    <a:lumMod val="75000"/>
                  </a:schemeClr>
                </a:solidFill>
                <a:latin typeface="Verdana" pitchFamily="34" charset="0"/>
              </a:rPr>
              <a:pPr algn="r"/>
              <a:t>‹#›</a:t>
            </a:fld>
            <a:endParaRPr lang="en-US" sz="1400" b="0" dirty="0">
              <a:solidFill>
                <a:schemeClr val="tx2">
                  <a:lumMod val="75000"/>
                </a:schemeClr>
              </a:solidFill>
              <a:latin typeface="Verdana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642910" y="142852"/>
            <a:ext cx="8501090" cy="1000132"/>
          </a:xfrm>
          <a:prstGeom prst="rect">
            <a:avLst/>
          </a:prstGeom>
          <a:solidFill>
            <a:srgbClr val="0070C0"/>
          </a:solidFill>
          <a:ln w="31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sw-FR"/>
          </a:p>
        </p:txBody>
      </p:sp>
      <p:sp>
        <p:nvSpPr>
          <p:cNvPr id="8" name="Rectangle 7"/>
          <p:cNvSpPr/>
          <p:nvPr userDrawn="1"/>
        </p:nvSpPr>
        <p:spPr>
          <a:xfrm>
            <a:off x="-32" y="142852"/>
            <a:ext cx="571504" cy="1000132"/>
          </a:xfrm>
          <a:prstGeom prst="rect">
            <a:avLst/>
          </a:prstGeom>
          <a:solidFill>
            <a:srgbClr val="92D050"/>
          </a:solidFill>
          <a:ln w="31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sw-FR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12343-896F-4A5E-8F62-851F66E7177D}" type="datetimeFigureOut">
              <a:rPr lang="en-US" smtClean="0"/>
              <a:pPr/>
              <a:t>14/04/2015</a:t>
            </a:fld>
            <a:endParaRPr lang="gsw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gsw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package" Target="../embeddings/Microsoft_Word_Document1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Document2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Document3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Document4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Document5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Document6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Document7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Document8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Document9.docx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41490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6218" y="2096636"/>
            <a:ext cx="6317086" cy="1374735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108000">
              <a:lnSpc>
                <a:spcPts val="5000"/>
              </a:lnSpc>
            </a:pPr>
            <a:r>
              <a:rPr lang="id-ID" sz="4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Pengantar Penentuan Skala Gaji</a:t>
            </a:r>
            <a:endParaRPr lang="af-ZA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43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5786" y="357164"/>
            <a:ext cx="8358214" cy="678327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108000">
              <a:lnSpc>
                <a:spcPts val="5000"/>
              </a:lnSpc>
            </a:pPr>
            <a:r>
              <a:rPr lang="id-ID" sz="3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Remuneration</a:t>
            </a:r>
            <a:endParaRPr lang="af-ZA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560" y="1280764"/>
            <a:ext cx="835292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Dalam aspek remuneration ini, dilakukan proses penghitungan job value dari setiap jabatan yang ada di </a:t>
            </a:r>
            <a:r>
              <a:rPr lang="id-ID" sz="2400" smtClean="0">
                <a:cs typeface="Arial" pitchFamily="34" charset="0"/>
              </a:rPr>
              <a:t>perusahaan.  </a:t>
            </a:r>
            <a:endParaRPr lang="id-ID" sz="2400" smtClean="0">
              <a:cs typeface="Arial" pitchFamily="34" charset="0"/>
            </a:endParaRPr>
          </a:p>
          <a:p>
            <a:pPr marL="514350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Pengitungan job value mengacu pada Hay Compansable Factors atau kriteria dan faktor untuk menilai harga sebuah pekerjaan.</a:t>
            </a:r>
          </a:p>
          <a:p>
            <a:pPr marL="514350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Melalui pengukuran job value-nya Hay </a:t>
            </a:r>
            <a:r>
              <a:rPr lang="id-ID" sz="2400" smtClean="0">
                <a:cs typeface="Arial" pitchFamily="34" charset="0"/>
              </a:rPr>
              <a:t>Compansable </a:t>
            </a:r>
            <a:r>
              <a:rPr lang="id-ID" sz="2400" smtClean="0">
                <a:cs typeface="Arial" pitchFamily="34" charset="0"/>
              </a:rPr>
              <a:t>Factors, maka setiap jabatan akan memiliki “value” yang berbeda-beda sesuai dengan karakteristiknya. </a:t>
            </a:r>
          </a:p>
          <a:p>
            <a:pPr marL="514350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Setelah setiap jabatan memiliki job value, maka kemudian disusunlah salary grading berdasar rentang job value yang ada. </a:t>
            </a:r>
            <a:endParaRPr lang="af-ZA" sz="24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74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280764"/>
            <a:ext cx="83529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Kriteria, skala dan deskripsi setiap skala dijelaskan dalam dokumen </a:t>
            </a:r>
            <a:r>
              <a:rPr lang="id-ID" sz="2400" b="1" smtClean="0">
                <a:cs typeface="Arial" pitchFamily="34" charset="0"/>
              </a:rPr>
              <a:t>word</a:t>
            </a:r>
            <a:r>
              <a:rPr lang="id-ID" sz="2400" smtClean="0">
                <a:cs typeface="Arial" pitchFamily="34" charset="0"/>
              </a:rPr>
              <a:t> : “</a:t>
            </a:r>
            <a:r>
              <a:rPr lang="id-ID" sz="2400" b="1" smtClean="0">
                <a:cs typeface="Arial" pitchFamily="34" charset="0"/>
              </a:rPr>
              <a:t>Skala Compensable Factors” </a:t>
            </a:r>
            <a:r>
              <a:rPr lang="id-ID" sz="2400" smtClean="0">
                <a:cs typeface="Arial" pitchFamily="34" charset="0"/>
              </a:rPr>
              <a:t>(lihat juga dalam slide berikutnya). </a:t>
            </a:r>
          </a:p>
          <a:p>
            <a:pPr marL="514350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Berdasar compensable factors dan skala kriterianya ini, kemudian dinilai job value setiap posisi atau jabatan yang ada </a:t>
            </a:r>
            <a:r>
              <a:rPr lang="id-ID" sz="2400" smtClean="0">
                <a:cs typeface="Arial" pitchFamily="34" charset="0"/>
              </a:rPr>
              <a:t>di dalam perusahaan. </a:t>
            </a:r>
            <a:endParaRPr lang="af-ZA" sz="2400" dirty="0">
              <a:cs typeface="Arial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319518"/>
            <a:ext cx="860482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Hay </a:t>
            </a:r>
            <a:r>
              <a:rPr lang="en-US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Compe</a:t>
            </a: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sable 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Factors dan </a:t>
            </a:r>
            <a:r>
              <a:rPr lang="en-US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Bobot</a:t>
            </a: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nya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1579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407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269590" y="319518"/>
            <a:ext cx="860482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Hay </a:t>
            </a:r>
            <a:r>
              <a:rPr lang="en-US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Compesable 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Factors dan </a:t>
            </a:r>
            <a:r>
              <a:rPr lang="en-US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Bobot</a:t>
            </a: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nya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79908" name="Group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467709"/>
              </p:ext>
            </p:extLst>
          </p:nvPr>
        </p:nvGraphicFramePr>
        <p:xfrm>
          <a:off x="914400" y="1524000"/>
          <a:ext cx="5943600" cy="4645144"/>
        </p:xfrm>
        <a:graphic>
          <a:graphicData uri="http://schemas.openxmlformats.org/drawingml/2006/table">
            <a:tbl>
              <a:tblPr/>
              <a:tblGrid>
                <a:gridCol w="2914650"/>
                <a:gridCol w="3028950"/>
              </a:tblGrid>
              <a:tr h="140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Ketrampilan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eriod"/>
                        <a:tabLst>
                          <a:tab pos="2286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Teknis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eriod"/>
                        <a:tabLst>
                          <a:tab pos="2286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Manajerial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eriod"/>
                        <a:tabLst>
                          <a:tab pos="2286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Interpersonal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35%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12%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15%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8%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Upaya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eriod"/>
                        <a:tabLst>
                          <a:tab pos="2286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Pikiran/Mental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eriod"/>
                        <a:tabLst>
                          <a:tab pos="2286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Fisik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eriod"/>
                        <a:tabLst>
                          <a:tab pos="2286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Tekanan Waktu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30%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14%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8%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8%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Tanggung Jawab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eriod"/>
                        <a:tabLst>
                          <a:tab pos="2286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Hasil Kerja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eriod"/>
                        <a:tabLst>
                          <a:tab pos="2286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Aset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eriod"/>
                        <a:tabLst>
                          <a:tab pos="2286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Bawahan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35%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15%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10%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10%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6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TOTAL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100 %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28" name="Line 33"/>
          <p:cNvSpPr>
            <a:spLocks noChangeShapeType="1"/>
          </p:cNvSpPr>
          <p:nvPr/>
        </p:nvSpPr>
        <p:spPr bwMode="auto">
          <a:xfrm>
            <a:off x="762000" y="2971800"/>
            <a:ext cx="541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29" name="Line 34"/>
          <p:cNvSpPr>
            <a:spLocks noChangeShapeType="1"/>
          </p:cNvSpPr>
          <p:nvPr/>
        </p:nvSpPr>
        <p:spPr bwMode="auto">
          <a:xfrm>
            <a:off x="685800" y="4343400"/>
            <a:ext cx="541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30" name="Line 37"/>
          <p:cNvSpPr>
            <a:spLocks noChangeShapeType="1"/>
          </p:cNvSpPr>
          <p:nvPr/>
        </p:nvSpPr>
        <p:spPr bwMode="auto">
          <a:xfrm>
            <a:off x="685800" y="5791200"/>
            <a:ext cx="541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9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149949"/>
              </p:ext>
            </p:extLst>
          </p:nvPr>
        </p:nvGraphicFramePr>
        <p:xfrm>
          <a:off x="323528" y="1484784"/>
          <a:ext cx="8450020" cy="468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Document" r:id="rId4" imgW="9340205" imgH="5261410" progId="Word.Document.12">
                  <p:embed/>
                </p:oleObj>
              </mc:Choice>
              <mc:Fallback>
                <p:oleObj name="Document" r:id="rId4" imgW="9340205" imgH="52614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528" y="1484784"/>
                        <a:ext cx="8450020" cy="4680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55576" y="319518"/>
            <a:ext cx="8604820" cy="67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Ketrampilan/Skills - TEKNIS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5580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709768"/>
              </p:ext>
            </p:extLst>
          </p:nvPr>
        </p:nvGraphicFramePr>
        <p:xfrm>
          <a:off x="755576" y="1340768"/>
          <a:ext cx="7922943" cy="482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Document" r:id="rId4" imgW="9340205" imgH="5093971" progId="Word.Document.12">
                  <p:embed/>
                </p:oleObj>
              </mc:Choice>
              <mc:Fallback>
                <p:oleObj name="Document" r:id="rId4" imgW="9340205" imgH="50939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5576" y="1340768"/>
                        <a:ext cx="7922943" cy="48245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55576" y="319518"/>
            <a:ext cx="860482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Ketrampilan/Skills - MANAJERIAL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750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386817"/>
              </p:ext>
            </p:extLst>
          </p:nvPr>
        </p:nvGraphicFramePr>
        <p:xfrm>
          <a:off x="539551" y="1484784"/>
          <a:ext cx="8404161" cy="439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Document" r:id="rId4" imgW="9340205" imgH="4881258" progId="Word.Document.12">
                  <p:embed/>
                </p:oleObj>
              </mc:Choice>
              <mc:Fallback>
                <p:oleObj name="Document" r:id="rId4" imgW="9340205" imgH="48812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9551" y="1484784"/>
                        <a:ext cx="8404161" cy="4392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55576" y="319518"/>
            <a:ext cx="860482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Ketrampilan/Skills - INTERPERSONAL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750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55576" y="319518"/>
            <a:ext cx="8604820" cy="67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Upaya/Effort – PIKIRAN dan MENTAL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635892"/>
              </p:ext>
            </p:extLst>
          </p:nvPr>
        </p:nvGraphicFramePr>
        <p:xfrm>
          <a:off x="683567" y="1340768"/>
          <a:ext cx="7920881" cy="5112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Document" r:id="rId4" imgW="9340205" imgH="5189548" progId="Word.Document.12">
                  <p:embed/>
                </p:oleObj>
              </mc:Choice>
              <mc:Fallback>
                <p:oleObj name="Document" r:id="rId4" imgW="9340205" imgH="51895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3567" y="1340768"/>
                        <a:ext cx="7920881" cy="51125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750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835370"/>
              </p:ext>
            </p:extLst>
          </p:nvPr>
        </p:nvGraphicFramePr>
        <p:xfrm>
          <a:off x="738807" y="1484784"/>
          <a:ext cx="8064325" cy="4248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Document" r:id="rId4" imgW="9340205" imgH="4920782" progId="Word.Document.12">
                  <p:embed/>
                </p:oleObj>
              </mc:Choice>
              <mc:Fallback>
                <p:oleObj name="Document" r:id="rId4" imgW="9340205" imgH="49207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8807" y="1484784"/>
                        <a:ext cx="8064325" cy="4248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55576" y="319518"/>
            <a:ext cx="860482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Upaya/Effort – FISIK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750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140873"/>
              </p:ext>
            </p:extLst>
          </p:nvPr>
        </p:nvGraphicFramePr>
        <p:xfrm>
          <a:off x="611559" y="1484784"/>
          <a:ext cx="8142443" cy="352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Document" r:id="rId4" imgW="9340205" imgH="4046216" progId="Word.Document.12">
                  <p:embed/>
                </p:oleObj>
              </mc:Choice>
              <mc:Fallback>
                <p:oleObj name="Document" r:id="rId4" imgW="9340205" imgH="40462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1559" y="1484784"/>
                        <a:ext cx="8142443" cy="35283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55576" y="319518"/>
            <a:ext cx="860482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Upaya/Effort – TEKANAN WAKTU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750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899839"/>
              </p:ext>
            </p:extLst>
          </p:nvPr>
        </p:nvGraphicFramePr>
        <p:xfrm>
          <a:off x="611559" y="1484784"/>
          <a:ext cx="8338683" cy="36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Document" r:id="rId4" imgW="9340205" imgH="4031843" progId="Word.Document.12">
                  <p:embed/>
                </p:oleObj>
              </mc:Choice>
              <mc:Fallback>
                <p:oleObj name="Document" r:id="rId4" imgW="9340205" imgH="40318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1559" y="1484784"/>
                        <a:ext cx="8338683" cy="360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55576" y="319518"/>
            <a:ext cx="8604820" cy="67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Tanggungjawab – HASIL KERJA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750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716830"/>
              </p:ext>
            </p:extLst>
          </p:nvPr>
        </p:nvGraphicFramePr>
        <p:xfrm>
          <a:off x="683567" y="1484784"/>
          <a:ext cx="8181889" cy="316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Document" r:id="rId4" imgW="9333719" imgH="3615400" progId="Word.Document.12">
                  <p:embed/>
                </p:oleObj>
              </mc:Choice>
              <mc:Fallback>
                <p:oleObj name="Document" r:id="rId4" imgW="9333719" imgH="36154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3567" y="1484784"/>
                        <a:ext cx="8181889" cy="3168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55576" y="319518"/>
            <a:ext cx="860482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Tanggungjawab – ASSET PERUSAHAAN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750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660963"/>
              </p:ext>
            </p:extLst>
          </p:nvPr>
        </p:nvGraphicFramePr>
        <p:xfrm>
          <a:off x="755576" y="1412776"/>
          <a:ext cx="8233570" cy="3456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Document" r:id="rId4" imgW="9340205" imgH="3921535" progId="Word.Document.12">
                  <p:embed/>
                </p:oleObj>
              </mc:Choice>
              <mc:Fallback>
                <p:oleObj name="Document" r:id="rId4" imgW="9340205" imgH="39215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5576" y="1412776"/>
                        <a:ext cx="8233570" cy="3456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55576" y="319518"/>
            <a:ext cx="860482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Tanggungjawab – SUPERVISI BAWAHAN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750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280764"/>
            <a:ext cx="8352928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Berdasar compensable factors dan skala kriteria yang telah diuraikan sebelumnya, kemudian dilakukan proses penilaian  job value setiap posisi atau jabatan yang </a:t>
            </a:r>
            <a:r>
              <a:rPr lang="id-ID" sz="2400" smtClean="0">
                <a:cs typeface="Arial" pitchFamily="34" charset="0"/>
              </a:rPr>
              <a:t>ada. </a:t>
            </a:r>
          </a:p>
          <a:p>
            <a:pPr marL="514350" indent="-514350"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Hasil </a:t>
            </a:r>
            <a:r>
              <a:rPr lang="id-ID" sz="2400" smtClean="0">
                <a:cs typeface="Arial" pitchFamily="34" charset="0"/>
              </a:rPr>
              <a:t>dari pengukuran job value untuk beragam posisi </a:t>
            </a:r>
            <a:r>
              <a:rPr lang="id-ID" sz="2400" smtClean="0">
                <a:cs typeface="Arial" pitchFamily="34" charset="0"/>
              </a:rPr>
              <a:t>dalam sebuah perusahaan adalah sbb (ilustrasi). </a:t>
            </a:r>
            <a:endParaRPr lang="af-ZA" sz="2400" dirty="0">
              <a:cs typeface="Arial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319518"/>
            <a:ext cx="860482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Hay </a:t>
            </a:r>
            <a:r>
              <a:rPr lang="en-US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Compe</a:t>
            </a: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sable 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Factors dan </a:t>
            </a:r>
            <a:r>
              <a:rPr lang="en-US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Bobot</a:t>
            </a: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nya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650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319518"/>
            <a:ext cx="8604820" cy="67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Job Value untuk Grade Manajer dan DM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04" y="1340768"/>
            <a:ext cx="8568952" cy="4158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837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319518"/>
            <a:ext cx="8604820" cy="67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Job Value untuk Grade Manajer dan DM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04" y="1340768"/>
            <a:ext cx="8568952" cy="4158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Up Arrow 2"/>
          <p:cNvSpPr/>
          <p:nvPr/>
        </p:nvSpPr>
        <p:spPr>
          <a:xfrm>
            <a:off x="4121882" y="4864232"/>
            <a:ext cx="936104" cy="73844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635896" y="5661248"/>
            <a:ext cx="4320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i="1" smtClean="0"/>
              <a:t>Angka-angka ini didapat dengan mengacu pada skala Compensable Factors (ada di file WORD).</a:t>
            </a:r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207121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280764"/>
            <a:ext cx="83529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Dari tabel sebelumnya, juga terlihat bahwa grading untuk level Manajer dan Deputi Manajer </a:t>
            </a:r>
            <a:r>
              <a:rPr lang="id-ID" sz="2400" smtClean="0">
                <a:cs typeface="Arial" pitchFamily="34" charset="0"/>
              </a:rPr>
              <a:t>dibagi </a:t>
            </a:r>
            <a:r>
              <a:rPr lang="id-ID" sz="2400" smtClean="0">
                <a:cs typeface="Arial" pitchFamily="34" charset="0"/>
              </a:rPr>
              <a:t>menjadi tiga kategori yakni :</a:t>
            </a:r>
          </a:p>
          <a:p>
            <a:pPr marL="971550" lvl="1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Grade Manajer 1 </a:t>
            </a:r>
          </a:p>
          <a:p>
            <a:pPr marL="971550" lvl="1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Grade Manajer 2</a:t>
            </a:r>
          </a:p>
          <a:p>
            <a:pPr marL="971550" lvl="1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Grade Manajer 3</a:t>
            </a:r>
            <a:endParaRPr lang="af-ZA" sz="2400" dirty="0">
              <a:cs typeface="Arial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319518"/>
            <a:ext cx="8604820" cy="67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Job Value Manajer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56273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04" y="1340768"/>
            <a:ext cx="8568952" cy="4158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1"/>
          <p:cNvSpPr/>
          <p:nvPr/>
        </p:nvSpPr>
        <p:spPr>
          <a:xfrm>
            <a:off x="7363296" y="2530322"/>
            <a:ext cx="1728192" cy="32856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319518"/>
            <a:ext cx="8604820" cy="67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Job Value untuk Grade Manajer dan DM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Up Arrow 4"/>
          <p:cNvSpPr/>
          <p:nvPr/>
        </p:nvSpPr>
        <p:spPr>
          <a:xfrm>
            <a:off x="7817718" y="5491973"/>
            <a:ext cx="853380" cy="64807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468075" y="6240690"/>
            <a:ext cx="24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000" b="1" i="1" smtClean="0">
                <a:solidFill>
                  <a:srgbClr val="FF0000"/>
                </a:solidFill>
              </a:rPr>
              <a:t>3 Grade Manajer/DM</a:t>
            </a:r>
            <a:endParaRPr lang="en-US" sz="20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06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319518"/>
            <a:ext cx="8604820" cy="63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Job Value untuk Fungsional Engineer dan Analis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60" y="1221917"/>
            <a:ext cx="7884368" cy="5559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837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280764"/>
            <a:ext cx="8352928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Sementara untuk kategori tenaga fungsional, maka terdapat grade sbb :</a:t>
            </a:r>
          </a:p>
          <a:p>
            <a:pPr marL="971550" lvl="1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Grade Analis/Engineer 1</a:t>
            </a:r>
          </a:p>
          <a:p>
            <a:pPr marL="971550" lvl="1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Grade Analis/Engineer 2</a:t>
            </a:r>
          </a:p>
          <a:p>
            <a:pPr marL="971550" lvl="1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Grade Asisten Analis 1</a:t>
            </a:r>
          </a:p>
          <a:p>
            <a:pPr marL="971550" lvl="1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Grade Asisten Analis 2</a:t>
            </a:r>
          </a:p>
          <a:p>
            <a:pPr marL="971550" lvl="1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Grade Asisten Analis 3</a:t>
            </a:r>
            <a:endParaRPr lang="af-ZA" sz="2400" dirty="0">
              <a:cs typeface="Arial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319518"/>
            <a:ext cx="860482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Job Value Tenaga Fungsional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6990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280764"/>
            <a:ext cx="83529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smtClean="0">
                <a:cs typeface="Arial" pitchFamily="34" charset="0"/>
              </a:rPr>
              <a:t>Contoh real Salary Grade berdasar pengukuran Job Value juga dapat dilihat dalam file EXCEL. </a:t>
            </a:r>
            <a:endParaRPr lang="af-ZA" sz="2400" dirty="0">
              <a:cs typeface="Arial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576" y="319518"/>
            <a:ext cx="860482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10000"/>
              </a:lnSpc>
              <a:defRPr/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Job Value Tenaga Fungsional</a:t>
            </a:r>
            <a:endParaRPr lang="en-US" sz="36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6222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2016</TotalTime>
  <Words>415</Words>
  <Application>Microsoft Office PowerPoint</Application>
  <PresentationFormat>On-screen Show (4:3)</PresentationFormat>
  <Paragraphs>88</Paragraphs>
  <Slides>21</Slides>
  <Notes>20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Office Theme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DELL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OWNER</dc:creator>
  <cp:lastModifiedBy>Yodhia Antariksa</cp:lastModifiedBy>
  <cp:revision>179</cp:revision>
  <dcterms:created xsi:type="dcterms:W3CDTF">2009-07-19T02:14:00Z</dcterms:created>
  <dcterms:modified xsi:type="dcterms:W3CDTF">2015-04-14T07:11:33Z</dcterms:modified>
</cp:coreProperties>
</file>